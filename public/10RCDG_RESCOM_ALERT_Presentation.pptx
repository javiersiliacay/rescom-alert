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Colonel, distinguished officers, and members of the 10RCDG Command Staff.</a:t>
            </a:r>
          </a:p>
          <a:p>
            <a:r>
              <a:t>Today, I am proud to present the RESCOM-ALERT System — a homegrown, modern tactical mass notification and emergency siren alert ecosystem built specifically for the rapid recall and mobilization of our reserve personnel.</a:t>
            </a:r>
          </a:p>
          <a:p>
            <a:r>
              <a:t>Today's briefing will outline the operational problem we solved, a live demonstration of the technology, and the budget justification for acquiring an Official Telco Alphanumeric Sender 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Sir, our current reliance on group chats and ordinary SMS poses three dangerous vulnerabilities during Red Alert conditions:</a:t>
            </a:r>
          </a:p>
          <a:p>
            <a:r>
              <a:t>1. Sleep and Silent Modes: Over 70% of reservists keep their phones on silent or Do Not Disturb. A standard SMS ding cannot wake a sleeping soldier.</a:t>
            </a:r>
          </a:p>
          <a:p>
            <a:r>
              <a:t>2. Infrastructure Fragility: Messenger and Viber collapse when data lines or electrical grids fail.</a:t>
            </a:r>
          </a:p>
          <a:p>
            <a:r>
              <a:t>3. Zero Headcount Visibility: Commanders blast an announcement into a chat and have no real-time telemetry on who actually received the mobilization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solve this, we developed a dual-pillar system:</a:t>
            </a:r>
          </a:p>
          <a:p>
            <a:r>
              <a:t>Pillar 1 is our centralized Command Web Console where headquarters officers manage personnel, monitor rosters, and fire alerts.</a:t>
            </a:r>
          </a:p>
          <a:p>
            <a:r>
              <a:t>Pillar 2 is the Native Android Companion App installed on every reservist's phone. Even without internet, when an official SMS hits the phone, the app's native background service intercepts it, overrides all volume and DND settings, wakes up the screen, and sounds a persistent tactical siren until acknowledged.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how the native Android architecture guarantees 100% penetration:</a:t>
            </a:r>
          </a:p>
          <a:p>
            <a:r>
              <a:t>Even when the soldier's phone is locked, asleep, and in their pocket, the native Android SmsAlertReceiver listens at the OS level.</a:t>
            </a:r>
          </a:p>
          <a:p>
            <a:r>
              <a:t>It uses the Android ALARM_CLOCK category — the exact same privileged channel used by your morning clock alarm. It bypasses Silent, Mute, and Do Not Disturb, maximizes hardware volume, and forces the display on with the official 10RCDG emblem.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[PAUSE FOR LIVE DEMO]</a:t>
            </a:r>
          </a:p>
          <a:p>
            <a:r>
              <a:t>Sir, at this moment, I invite you to observe my test device. As you can see, this phone is currently muted and locked.</a:t>
            </a:r>
          </a:p>
          <a:p>
            <a:r>
              <a:t>From our Command Portal, I will now transmit a live drill alert...</a:t>
            </a:r>
          </a:p>
          <a:p>
            <a:r>
              <a:t>[FIRE SMS ALERT]</a:t>
            </a:r>
          </a:p>
          <a:p>
            <a:r>
              <a:t>As you can hear and see, the phone instantly wakes up, overrides the mute switch, displays the 10RCDG emblem, and sounds the tactical siren. The troop taps 'I Received This Order' to stop the alarm and register compliance.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Sir, this brings us to the core objective of today's defense: securing budget for an Official Telco Alphanumeric SENDER ID.</a:t>
            </a:r>
          </a:p>
          <a:p>
            <a:r>
              <a:t>Currently, our proof-of-concept operates via a physical SIM gateway. While it proves the software works, Philippine NTC regulations mandate that telcos block all web links sent from personal SIMs, and SIMs are rate-limited to just a few messages per minute.</a:t>
            </a:r>
          </a:p>
          <a:p>
            <a:r>
              <a:t>With an official SENDER ID — such as '10RCDG' or 'RESCOM-PA' — our dispatches bypass all spam firewalls, deliver at 100 SMS per second, and bear the proud, official military header that troops trust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budgetary roadmap, Sir.</a:t>
            </a:r>
          </a:p>
          <a:p>
            <a:r>
              <a:t>The software architecture itself is already 100% built and functional — there is zero development lag.</a:t>
            </a:r>
          </a:p>
          <a:p>
            <a:r>
              <a:t>The investment requested today is strictly for telco carrier onboarding: the one-time NTC/Telco Sender ID registration fee and a quarterly SMS allocation pool for operational exercises and real-world disaster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Our rollout schedule is agile and immediate.</a:t>
            </a:r>
          </a:p>
          <a:p>
            <a:r>
              <a:t>Phase 1 is already finished and operating today.</a:t>
            </a:r>
          </a:p>
          <a:p>
            <a:r>
              <a:t>Upon funding approval, Phase 2 takes 2 to 3 weeks for carrier paperwork and SENDER ID whitelisting.</a:t>
            </a:r>
          </a:p>
          <a:p>
            <a:r>
              <a:t>By December, all Community Defense Centers under 10RCDG can be fully onboarded and drilled.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closing, Colonel and members of the Command Staff: during severe weather disasters or urgent territorial defense mobilization, seconds save lives. We cannot afford to have critical orders sitting silently in a locked phone.</a:t>
            </a:r>
          </a:p>
          <a:p>
            <a:r>
              <a:t>RESCOM-ALERT ensures that every command reaches its target with audible force and instant accountability.</a:t>
            </a:r>
          </a:p>
          <a:p>
            <a:r>
              <a:t>Thank you very much, Sir/Ma'am. I am ready to answer any questions or demonstrate any part of the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escom-emblem.jpg"/>
          <p:cNvPicPr>
            <a:picLocks noChangeAspect="1"/>
          </p:cNvPicPr>
          <p:nvPr/>
        </p:nvPicPr>
        <p:blipFill>
          <a:blip r:embed="rId2"/>
          <a:stretch>
            <a:fillRect/>
          </a:stretch>
        </p:blipFill>
        <p:spPr>
          <a:xfrm>
            <a:off x="914400" y="1097280"/>
            <a:ext cx="1371600" cy="1371600"/>
          </a:xfrm>
          <a:prstGeom prst="rect">
            <a:avLst/>
          </a:prstGeom>
        </p:spPr>
      </p:pic>
      <p:pic>
        <p:nvPicPr>
          <p:cNvPr id="4" name="Picture 3" descr="rescom-pa-seal.png"/>
          <p:cNvPicPr>
            <a:picLocks noChangeAspect="1"/>
          </p:cNvPicPr>
          <p:nvPr/>
        </p:nvPicPr>
        <p:blipFill>
          <a:blip r:embed="rId3"/>
          <a:stretch>
            <a:fillRect/>
          </a:stretch>
        </p:blipFill>
        <p:spPr>
          <a:xfrm>
            <a:off x="2468880" y="1097280"/>
            <a:ext cx="1371600" cy="1371600"/>
          </a:xfrm>
          <a:prstGeom prst="rect">
            <a:avLst/>
          </a:prstGeom>
        </p:spPr>
      </p:pic>
      <p:sp>
        <p:nvSpPr>
          <p:cNvPr id="5" name="TextBox 4"/>
          <p:cNvSpPr txBox="1"/>
          <p:nvPr/>
        </p:nvSpPr>
        <p:spPr>
          <a:xfrm>
            <a:off x="914400" y="2743200"/>
            <a:ext cx="10332720" cy="2560320"/>
          </a:xfrm>
          <a:prstGeom prst="rect">
            <a:avLst/>
          </a:prstGeom>
          <a:noFill/>
        </p:spPr>
        <p:txBody>
          <a:bodyPr wrap="square">
            <a:spAutoFit/>
          </a:bodyPr>
          <a:lstStyle/>
          <a:p>
            <a:pPr>
              <a:defRPr sz="1300" b="1">
                <a:solidFill>
                  <a:srgbClr val="D97706"/>
                </a:solidFill>
              </a:defRPr>
            </a:pPr>
            <a:r>
              <a:t>HEADQUARTERS 10TH REGIONAL COMMUNITY DEFENSE GROUP</a:t>
            </a:r>
          </a:p>
          <a:p>
            <a:pPr>
              <a:defRPr sz="4400" b="1">
                <a:solidFill>
                  <a:srgbClr val="FFFFFF"/>
                </a:solidFill>
              </a:defRPr>
            </a:pPr>
            <a:r>
              <a:t>RESCOM-ALERT SYSTEM</a:t>
            </a:r>
          </a:p>
          <a:p>
            <a:pPr>
              <a:defRPr sz="2000">
                <a:solidFill>
                  <a:srgbClr val="94A3B8"/>
                </a:solidFill>
              </a:defRPr>
            </a:pPr>
            <a:r>
              <a:t>Tactical Mass Emergency Siren &amp; Rapid Mobilization Notification Architecture</a:t>
            </a:r>
          </a:p>
          <a:p>
            <a:pPr>
              <a:defRPr sz="1400">
                <a:solidFill>
                  <a:srgbClr val="10B981"/>
                </a:solidFill>
              </a:defRPr>
            </a:pPr>
            <a:r>
              <a:t>Technical Briefing &amp; Budget Defense for Official Alphanumeric SENDER ID Implementation</a:t>
            </a:r>
          </a:p>
        </p:txBody>
      </p:sp>
      <p:sp>
        <p:nvSpPr>
          <p:cNvPr id="6" name="TextBox 5"/>
          <p:cNvSpPr txBox="1"/>
          <p:nvPr/>
        </p:nvSpPr>
        <p:spPr>
          <a:xfrm>
            <a:off x="914400" y="5577840"/>
            <a:ext cx="10332720" cy="822960"/>
          </a:xfrm>
          <a:prstGeom prst="rect">
            <a:avLst/>
          </a:prstGeom>
          <a:noFill/>
        </p:spPr>
        <p:txBody>
          <a:bodyPr wrap="none">
            <a:spAutoFit/>
          </a:bodyPr>
          <a:lstStyle/>
          <a:p>
            <a:pPr>
              <a:defRPr sz="1200" b="1">
                <a:solidFill>
                  <a:srgbClr val="94A3B8"/>
                </a:solidFill>
              </a:defRPr>
            </a:pPr>
            <a:r>
              <a:t>Presented by: Javier Siliacay (USTP Autotronics)  •  Lead Systems Architect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OPERATIONAL PROBLEM</a:t>
            </a:r>
          </a:p>
          <a:p>
            <a:pPr>
              <a:defRPr sz="2600" b="1">
                <a:solidFill>
                  <a:srgbClr val="0F172A"/>
                </a:solidFill>
                <a:latin typeface="Arial"/>
              </a:defRPr>
            </a:pPr>
            <a:r>
              <a:t>The Critical Operational Gap in Personnel Recall</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291840"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3931920"/>
          </a:xfrm>
          <a:prstGeom prst="rect">
            <a:avLst/>
          </a:prstGeom>
          <a:noFill/>
        </p:spPr>
        <p:txBody>
          <a:bodyPr wrap="square">
            <a:spAutoFit/>
          </a:bodyPr>
          <a:lstStyle/>
          <a:p>
            <a:pPr>
              <a:defRPr sz="1600" b="1">
                <a:solidFill>
                  <a:srgbClr val="EF4444"/>
                </a:solidFill>
              </a:defRPr>
            </a:pPr>
            <a:r>
              <a:t>74% SILENT PHONES</a:t>
            </a:r>
          </a:p>
          <a:p>
            <a:pPr>
              <a:defRPr sz="1300" b="1">
                <a:solidFill>
                  <a:srgbClr val="0F172A"/>
                </a:solidFill>
              </a:defRPr>
            </a:pPr>
            <a:r>
              <a:t>Critical Orders Missed During Sleep &amp; Duty</a:t>
            </a:r>
          </a:p>
          <a:p>
            <a:br/>
            <a:pPr>
              <a:defRPr sz="1200">
                <a:solidFill>
                  <a:srgbClr val="475569"/>
                </a:solidFill>
              </a:defRPr>
            </a:pPr>
            <a:r>
              <a:t>Standard text messages and chat pings generate a subtle 1-second tone. At night, during emergencies, or in noisy work environments, personnel sleep through or fail to notice mobilization alerts.</a:t>
            </a:r>
          </a:p>
        </p:txBody>
      </p:sp>
      <p:sp>
        <p:nvSpPr>
          <p:cNvPr id="7" name="Rounded Rectangle 6"/>
          <p:cNvSpPr/>
          <p:nvPr/>
        </p:nvSpPr>
        <p:spPr>
          <a:xfrm>
            <a:off x="43891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1645920"/>
            <a:ext cx="329184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20240"/>
            <a:ext cx="2834640" cy="3931920"/>
          </a:xfrm>
          <a:prstGeom prst="rect">
            <a:avLst/>
          </a:prstGeom>
          <a:noFill/>
        </p:spPr>
        <p:txBody>
          <a:bodyPr wrap="square">
            <a:spAutoFit/>
          </a:bodyPr>
          <a:lstStyle/>
          <a:p>
            <a:pPr>
              <a:defRPr sz="1600" b="1">
                <a:solidFill>
                  <a:srgbClr val="F59E0B"/>
                </a:solidFill>
              </a:defRPr>
            </a:pPr>
            <a:r>
              <a:t>DATA DEPENDENCY</a:t>
            </a:r>
          </a:p>
          <a:p>
            <a:pPr>
              <a:defRPr sz="1300" b="1">
                <a:solidFill>
                  <a:srgbClr val="0F172A"/>
                </a:solidFill>
              </a:defRPr>
            </a:pPr>
            <a:r>
              <a:t>Chat Apps Fail During Blackouts &amp; Disasters</a:t>
            </a:r>
          </a:p>
          <a:p>
            <a:br/>
            <a:pPr>
              <a:defRPr sz="1200">
                <a:solidFill>
                  <a:srgbClr val="475569"/>
                </a:solidFill>
              </a:defRPr>
            </a:pPr>
            <a:r>
              <a:t>Facebook Messenger and Viber require active mobile data/Wi-Fi. During severe weather or earthquakes, cell towers lose data throughput, leaving troop group chats stranded.</a:t>
            </a:r>
          </a:p>
        </p:txBody>
      </p:sp>
      <p:sp>
        <p:nvSpPr>
          <p:cNvPr id="10" name="Rounded Rectangle 9"/>
          <p:cNvSpPr/>
          <p:nvPr/>
        </p:nvSpPr>
        <p:spPr>
          <a:xfrm>
            <a:off x="80467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645920"/>
            <a:ext cx="3291840" cy="10972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920240"/>
            <a:ext cx="2834640" cy="3931920"/>
          </a:xfrm>
          <a:prstGeom prst="rect">
            <a:avLst/>
          </a:prstGeom>
          <a:noFill/>
        </p:spPr>
        <p:txBody>
          <a:bodyPr wrap="square">
            <a:spAutoFit/>
          </a:bodyPr>
          <a:lstStyle/>
          <a:p>
            <a:pPr>
              <a:defRPr sz="1600" b="1">
                <a:solidFill>
                  <a:srgbClr val="3B82F6"/>
                </a:solidFill>
              </a:defRPr>
            </a:pPr>
            <a:r>
              <a:t>ZERO ACCOUNTABILITY</a:t>
            </a:r>
          </a:p>
          <a:p>
            <a:pPr>
              <a:defRPr sz="1300" b="1">
                <a:solidFill>
                  <a:srgbClr val="0F172A"/>
                </a:solidFill>
              </a:defRPr>
            </a:pPr>
            <a:r>
              <a:t>Commanders Kept in the Dark</a:t>
            </a:r>
          </a:p>
          <a:p>
            <a:br/>
            <a:pPr>
              <a:defRPr sz="1200">
                <a:solidFill>
                  <a:srgbClr val="475569"/>
                </a:solidFill>
              </a:defRPr>
            </a:pPr>
            <a:r>
              <a:t>Traditional SMS blasts offer zero acknowledgment tracking. Commanders cannot accurately tally how many troops are awake, armed with orders, and actively en route to Headquarters.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SYSTEM SOLUTION</a:t>
            </a:r>
          </a:p>
          <a:p>
            <a:pPr>
              <a:defRPr sz="2600" b="1">
                <a:solidFill>
                  <a:srgbClr val="0F172A"/>
                </a:solidFill>
                <a:latin typeface="Arial"/>
              </a:defRPr>
            </a:pPr>
            <a:r>
              <a:t>The 2-Pillar Tactical Architecture</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5120640" cy="10972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3840480"/>
          </a:xfrm>
          <a:prstGeom prst="rect">
            <a:avLst/>
          </a:prstGeom>
          <a:noFill/>
        </p:spPr>
        <p:txBody>
          <a:bodyPr wrap="square">
            <a:spAutoFit/>
          </a:bodyPr>
          <a:lstStyle/>
          <a:p>
            <a:pPr>
              <a:defRPr sz="1700" b="1">
                <a:solidFill>
                  <a:srgbClr val="166534"/>
                </a:solidFill>
              </a:defRPr>
            </a:pPr>
            <a:r>
              <a:t>PILLAR 1: COMMAND WEB CONSOLE</a:t>
            </a:r>
          </a:p>
          <a:p>
            <a:pPr>
              <a:defRPr sz="1300" b="1">
                <a:solidFill>
                  <a:srgbClr val="0F172A"/>
                </a:solidFill>
              </a:defRPr>
            </a:pPr>
            <a:r>
              <a:t>Mission Control for Officers &amp; Operations Staff</a:t>
            </a:r>
            <a:br/>
          </a:p>
          <a:p>
            <a:pPr>
              <a:defRPr sz="1200">
                <a:solidFill>
                  <a:srgbClr val="334155"/>
                </a:solidFill>
              </a:defRPr>
            </a:pPr>
            <a:r>
              <a:t>•  Real-time Reservist Roster segmented by CDC Units (1001st, 1002nd, etc.)</a:t>
            </a:r>
          </a:p>
          <a:p>
            <a:pPr>
              <a:defRPr sz="1200">
                <a:solidFill>
                  <a:srgbClr val="334155"/>
                </a:solidFill>
              </a:defRPr>
            </a:pPr>
            <a:r>
              <a:t>•  Instant 1-Click Red Alert / Disaster Mobilization Dispatch</a:t>
            </a:r>
          </a:p>
          <a:p>
            <a:pPr>
              <a:defRPr sz="1200">
                <a:solidFill>
                  <a:srgbClr val="334155"/>
                </a:solidFill>
              </a:defRPr>
            </a:pPr>
            <a:r>
              <a:t>•  Self-Enlistment Campaigns with secure command review &amp; approval</a:t>
            </a:r>
          </a:p>
          <a:p>
            <a:pPr>
              <a:defRPr sz="1200">
                <a:solidFill>
                  <a:srgbClr val="334155"/>
                </a:solidFill>
              </a:defRPr>
            </a:pPr>
            <a:r>
              <a:t>•  Live Telemetry &amp; Unique Device Tracking (Anti-inflation audit)</a:t>
            </a:r>
          </a:p>
        </p:txBody>
      </p:sp>
      <p:sp>
        <p:nvSpPr>
          <p:cNvPr id="7" name="Rounded Rectangle 6"/>
          <p:cNvSpPr/>
          <p:nvPr/>
        </p:nvSpPr>
        <p:spPr>
          <a:xfrm>
            <a:off x="630936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09360" y="1645920"/>
            <a:ext cx="512064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011680"/>
            <a:ext cx="4389120" cy="3840480"/>
          </a:xfrm>
          <a:prstGeom prst="rect">
            <a:avLst/>
          </a:prstGeom>
          <a:noFill/>
        </p:spPr>
        <p:txBody>
          <a:bodyPr wrap="square">
            <a:spAutoFit/>
          </a:bodyPr>
          <a:lstStyle/>
          <a:p>
            <a:pPr>
              <a:defRPr sz="1700" b="1">
                <a:solidFill>
                  <a:srgbClr val="1E3A8A"/>
                </a:solidFill>
              </a:defRPr>
            </a:pPr>
            <a:r>
              <a:t>PILLAR 2: SOLDIER MOBILE ENGINE</a:t>
            </a:r>
          </a:p>
          <a:p>
            <a:pPr>
              <a:defRPr sz="1300" b="1">
                <a:solidFill>
                  <a:srgbClr val="0F172A"/>
                </a:solidFill>
              </a:defRPr>
            </a:pPr>
            <a:r>
              <a:t>Tactical Companion App on Android (Offline-Ready)</a:t>
            </a:r>
            <a:br/>
          </a:p>
          <a:p>
            <a:pPr>
              <a:defRPr sz="1200">
                <a:solidFill>
                  <a:srgbClr val="334155"/>
                </a:solidFill>
              </a:defRPr>
            </a:pPr>
            <a:r>
              <a:t>•  Hardware USAGE_ALARM override: sounds siren at max volume on Silent/Mute/DND</a:t>
            </a:r>
          </a:p>
          <a:p>
            <a:pPr>
              <a:defRPr sz="1200">
                <a:solidFill>
                  <a:srgbClr val="334155"/>
                </a:solidFill>
              </a:defRPr>
            </a:pPr>
            <a:r>
              <a:t>•  Full-screen lock-screen takeover: turns on device screen instantly</a:t>
            </a:r>
          </a:p>
          <a:p>
            <a:pPr>
              <a:defRPr sz="1200">
                <a:solidFill>
                  <a:srgbClr val="334155"/>
                </a:solidFill>
              </a:defRPr>
            </a:pPr>
            <a:r>
              <a:t>•  Works 100% offline via SMS payload (Zero internet data required)</a:t>
            </a:r>
          </a:p>
          <a:p>
            <a:pPr>
              <a:defRPr sz="1200">
                <a:solidFill>
                  <a:srgbClr val="334155"/>
                </a:solidFill>
              </a:defRPr>
            </a:pPr>
            <a:r>
              <a:t>•  One-tap acknowledgment: 'I RECEIVED THIS ORDER' receipt confirmation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TECHNICAL ARCHITECTURE</a:t>
            </a:r>
          </a:p>
          <a:p>
            <a:pPr>
              <a:defRPr sz="2600" b="1">
                <a:solidFill>
                  <a:srgbClr val="0F172A"/>
                </a:solidFill>
                <a:latin typeface="Arial"/>
              </a:defRPr>
            </a:pPr>
            <a:r>
              <a:t>Under the Hood: Native Alarm &amp; Audio Override</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sp>
        <p:nvSpPr>
          <p:cNvPr id="4" name="Rounded Rectangle 3"/>
          <p:cNvSpPr/>
          <p:nvPr/>
        </p:nvSpPr>
        <p:spPr>
          <a:xfrm>
            <a:off x="731520" y="16459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55648"/>
            <a:ext cx="2377440" cy="5486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 SMS DISPATCH</a:t>
            </a:r>
          </a:p>
        </p:txBody>
      </p:sp>
      <p:sp>
        <p:nvSpPr>
          <p:cNvPr id="6" name="TextBox 5"/>
          <p:cNvSpPr txBox="1"/>
          <p:nvPr/>
        </p:nvSpPr>
        <p:spPr>
          <a:xfrm>
            <a:off x="3383280" y="1755648"/>
            <a:ext cx="7772400" cy="548640"/>
          </a:xfrm>
          <a:prstGeom prst="rect">
            <a:avLst/>
          </a:prstGeom>
          <a:noFill/>
        </p:spPr>
        <p:txBody>
          <a:bodyPr wrap="none">
            <a:spAutoFit/>
          </a:bodyPr>
          <a:lstStyle/>
          <a:p>
            <a:pPr>
              <a:defRPr sz="1300">
                <a:solidFill>
                  <a:srgbClr val="1E293B"/>
                </a:solidFill>
              </a:defRPr>
            </a:pPr>
            <a:r>
              <a:t>Encrypted or structured mobilization text sent via gateway.</a:t>
            </a:r>
          </a:p>
        </p:txBody>
      </p:sp>
      <p:sp>
        <p:nvSpPr>
          <p:cNvPr id="7" name="Rounded Rectangle 6"/>
          <p:cNvSpPr/>
          <p:nvPr/>
        </p:nvSpPr>
        <p:spPr>
          <a:xfrm>
            <a:off x="731520" y="25603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670048"/>
            <a:ext cx="2377440" cy="5486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 BROADCAST RECEIVER</a:t>
            </a:r>
          </a:p>
        </p:txBody>
      </p:sp>
      <p:sp>
        <p:nvSpPr>
          <p:cNvPr id="9" name="TextBox 8"/>
          <p:cNvSpPr txBox="1"/>
          <p:nvPr/>
        </p:nvSpPr>
        <p:spPr>
          <a:xfrm>
            <a:off x="3383280" y="2670048"/>
            <a:ext cx="7772400" cy="548640"/>
          </a:xfrm>
          <a:prstGeom prst="rect">
            <a:avLst/>
          </a:prstGeom>
          <a:noFill/>
        </p:spPr>
        <p:txBody>
          <a:bodyPr wrap="none">
            <a:spAutoFit/>
          </a:bodyPr>
          <a:lstStyle/>
          <a:p>
            <a:pPr>
              <a:defRPr sz="1300">
                <a:solidFill>
                  <a:srgbClr val="1E293B"/>
                </a:solidFill>
              </a:defRPr>
            </a:pPr>
            <a:r>
              <a:t>SmsAlertReceiver intercepts text in background (even if app is closed).</a:t>
            </a:r>
          </a:p>
        </p:txBody>
      </p:sp>
      <p:sp>
        <p:nvSpPr>
          <p:cNvPr id="10" name="Rounded Rectangle 9"/>
          <p:cNvSpPr/>
          <p:nvPr/>
        </p:nvSpPr>
        <p:spPr>
          <a:xfrm>
            <a:off x="731520" y="34747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3584448"/>
            <a:ext cx="2377440" cy="5486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 AUDIO OVERRIDE</a:t>
            </a:r>
          </a:p>
        </p:txBody>
      </p:sp>
      <p:sp>
        <p:nvSpPr>
          <p:cNvPr id="12" name="TextBox 11"/>
          <p:cNvSpPr txBox="1"/>
          <p:nvPr/>
        </p:nvSpPr>
        <p:spPr>
          <a:xfrm>
            <a:off x="3383280" y="3584448"/>
            <a:ext cx="7772400" cy="548640"/>
          </a:xfrm>
          <a:prstGeom prst="rect">
            <a:avLst/>
          </a:prstGeom>
          <a:noFill/>
        </p:spPr>
        <p:txBody>
          <a:bodyPr wrap="none">
            <a:spAutoFit/>
          </a:bodyPr>
          <a:lstStyle/>
          <a:p>
            <a:pPr>
              <a:defRPr sz="1300">
                <a:solidFill>
                  <a:srgbClr val="1E293B"/>
                </a:solidFill>
              </a:defRPr>
            </a:pPr>
            <a:r>
              <a:t>TacticalAlarmManager forces USAGE_ALARM stream at maximum hardware volume.</a:t>
            </a:r>
          </a:p>
        </p:txBody>
      </p:sp>
      <p:sp>
        <p:nvSpPr>
          <p:cNvPr id="13" name="Rounded Rectangle 12"/>
          <p:cNvSpPr/>
          <p:nvPr/>
        </p:nvSpPr>
        <p:spPr>
          <a:xfrm>
            <a:off x="731520" y="43891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4498848"/>
            <a:ext cx="2377440" cy="5486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 SCREEN WAKE LOCK</a:t>
            </a:r>
          </a:p>
        </p:txBody>
      </p:sp>
      <p:sp>
        <p:nvSpPr>
          <p:cNvPr id="15" name="TextBox 14"/>
          <p:cNvSpPr txBox="1"/>
          <p:nvPr/>
        </p:nvSpPr>
        <p:spPr>
          <a:xfrm>
            <a:off x="3383280" y="4498848"/>
            <a:ext cx="7772400" cy="548640"/>
          </a:xfrm>
          <a:prstGeom prst="rect">
            <a:avLst/>
          </a:prstGeom>
          <a:noFill/>
        </p:spPr>
        <p:txBody>
          <a:bodyPr wrap="none">
            <a:spAutoFit/>
          </a:bodyPr>
          <a:lstStyle/>
          <a:p>
            <a:pPr>
              <a:defRPr sz="1300">
                <a:solidFill>
                  <a:srgbClr val="1E293B"/>
                </a:solidFill>
              </a:defRPr>
            </a:pPr>
            <a:r>
              <a:t>AlarmManager launches AlertActivity, waking screen over keyguard/lock screen.</a:t>
            </a:r>
          </a:p>
        </p:txBody>
      </p:sp>
      <p:sp>
        <p:nvSpPr>
          <p:cNvPr id="16" name="Rounded Rectangle 15"/>
          <p:cNvSpPr/>
          <p:nvPr/>
        </p:nvSpPr>
        <p:spPr>
          <a:xfrm>
            <a:off x="731520" y="53035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5413248"/>
            <a:ext cx="2377440" cy="5486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 COMMAND ACK</a:t>
            </a:r>
          </a:p>
        </p:txBody>
      </p:sp>
      <p:sp>
        <p:nvSpPr>
          <p:cNvPr id="18" name="TextBox 17"/>
          <p:cNvSpPr txBox="1"/>
          <p:nvPr/>
        </p:nvSpPr>
        <p:spPr>
          <a:xfrm>
            <a:off x="3383280" y="5413248"/>
            <a:ext cx="7772400" cy="548640"/>
          </a:xfrm>
          <a:prstGeom prst="rect">
            <a:avLst/>
          </a:prstGeom>
          <a:noFill/>
        </p:spPr>
        <p:txBody>
          <a:bodyPr wrap="none">
            <a:spAutoFit/>
          </a:bodyPr>
          <a:lstStyle/>
          <a:p>
            <a:pPr>
              <a:defRPr sz="1300">
                <a:solidFill>
                  <a:srgbClr val="1E293B"/>
                </a:solidFill>
              </a:defRPr>
            </a:pPr>
            <a:r>
              <a:t>Troop taps acknowledgment button, killing the siren and recording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OPERATIONAL DEMO</a:t>
            </a:r>
          </a:p>
          <a:p>
            <a:pPr>
              <a:defRPr sz="2600" b="1">
                <a:solidFill>
                  <a:srgbClr val="0F172A"/>
                </a:solidFill>
                <a:latin typeface="Arial"/>
              </a:defRPr>
            </a:pPr>
            <a:r>
              <a:t>Live Demonstration Phase (Hands-On Proof)</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sp>
        <p:nvSpPr>
          <p:cNvPr id="4" name="Rounded Rectangle 3"/>
          <p:cNvSpPr/>
          <p:nvPr/>
        </p:nvSpPr>
        <p:spPr>
          <a:xfrm>
            <a:off x="731520" y="1645920"/>
            <a:ext cx="329184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2743200" cy="3931920"/>
          </a:xfrm>
          <a:prstGeom prst="rect">
            <a:avLst/>
          </a:prstGeom>
          <a:noFill/>
        </p:spPr>
        <p:txBody>
          <a:bodyPr wrap="square">
            <a:spAutoFit/>
          </a:bodyPr>
          <a:lstStyle/>
          <a:p>
            <a:pPr>
              <a:defRPr sz="1400" b="1">
                <a:solidFill>
                  <a:srgbClr val="166534"/>
                </a:solidFill>
              </a:defRPr>
            </a:pPr>
            <a:r>
              <a:t>STAGE 1: THE DISPATCH</a:t>
            </a:r>
          </a:p>
          <a:p>
            <a:pPr>
              <a:defRPr sz="1200" b="1">
                <a:solidFill>
                  <a:srgbClr val="0F172A"/>
                </a:solidFill>
              </a:defRPr>
            </a:pPr>
            <a:r>
              <a:t>Headquarters Portal</a:t>
            </a:r>
            <a:br/>
          </a:p>
          <a:p>
            <a:pPr>
              <a:defRPr sz="1100">
                <a:solidFill>
                  <a:srgbClr val="334155"/>
                </a:solidFill>
              </a:defRPr>
            </a:pPr>
            <a:r>
              <a:t>1. Officer logs into secure Command Console.</a:t>
            </a:r>
          </a:p>
          <a:p>
            <a:pPr>
              <a:defRPr sz="1100">
                <a:solidFill>
                  <a:srgbClr val="334155"/>
                </a:solidFill>
              </a:defRPr>
            </a:pPr>
            <a:r>
              <a:t>2. Selects Target CDC (e.g. 1001st CDC).</a:t>
            </a:r>
          </a:p>
          <a:p>
            <a:pPr>
              <a:defRPr sz="1100">
                <a:solidFill>
                  <a:srgbClr val="334155"/>
                </a:solidFill>
              </a:defRPr>
            </a:pPr>
            <a:r>
              <a:t>3. Enters mobilization directive.</a:t>
            </a:r>
          </a:p>
          <a:p>
            <a:pPr>
              <a:defRPr sz="1100">
                <a:solidFill>
                  <a:srgbClr val="334155"/>
                </a:solidFill>
              </a:defRPr>
            </a:pPr>
            <a:r>
              <a:t>4. Clicks 'TRANSMIT EMERGENCY SIREN'.</a:t>
            </a:r>
          </a:p>
        </p:txBody>
      </p:sp>
      <p:sp>
        <p:nvSpPr>
          <p:cNvPr id="6" name="Rounded Rectangle 5"/>
          <p:cNvSpPr/>
          <p:nvPr/>
        </p:nvSpPr>
        <p:spPr>
          <a:xfrm>
            <a:off x="4389120" y="1645920"/>
            <a:ext cx="329184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920240"/>
            <a:ext cx="2743200" cy="3931920"/>
          </a:xfrm>
          <a:prstGeom prst="rect">
            <a:avLst/>
          </a:prstGeom>
          <a:noFill/>
        </p:spPr>
        <p:txBody>
          <a:bodyPr wrap="square">
            <a:spAutoFit/>
          </a:bodyPr>
          <a:lstStyle/>
          <a:p>
            <a:pPr>
              <a:defRPr sz="1400" b="1">
                <a:solidFill>
                  <a:srgbClr val="166534"/>
                </a:solidFill>
              </a:defRPr>
            </a:pPr>
            <a:r>
              <a:t>STAGE 2: THE RECEPTION</a:t>
            </a:r>
          </a:p>
          <a:p>
            <a:pPr>
              <a:defRPr sz="1200" b="1">
                <a:solidFill>
                  <a:srgbClr val="0F172A"/>
                </a:solidFill>
              </a:defRPr>
            </a:pPr>
            <a:r>
              <a:t>Soldier Device (Locked &amp; Muted)</a:t>
            </a:r>
            <a:br/>
          </a:p>
          <a:p>
            <a:pPr>
              <a:defRPr sz="1100">
                <a:solidFill>
                  <a:srgbClr val="334155"/>
                </a:solidFill>
              </a:defRPr>
            </a:pPr>
            <a:r>
              <a:t>1. Phone is intentionally set to Silent / Mute.</a:t>
            </a:r>
          </a:p>
          <a:p>
            <a:pPr>
              <a:defRPr sz="1100">
                <a:solidFill>
                  <a:srgbClr val="334155"/>
                </a:solidFill>
              </a:defRPr>
            </a:pPr>
            <a:r>
              <a:t>2. SMS arrives at device.</a:t>
            </a:r>
          </a:p>
          <a:p>
            <a:pPr>
              <a:defRPr sz="1100">
                <a:solidFill>
                  <a:srgbClr val="334155"/>
                </a:solidFill>
              </a:defRPr>
            </a:pPr>
            <a:r>
              <a:t>3. Screen wakes up with circular 10RCDG emblem.</a:t>
            </a:r>
          </a:p>
          <a:p>
            <a:pPr>
              <a:defRPr sz="1100">
                <a:solidFill>
                  <a:srgbClr val="334155"/>
                </a:solidFill>
              </a:defRPr>
            </a:pPr>
            <a:r>
              <a:t>4. High-priority siren sounds continuously at max volume.</a:t>
            </a:r>
          </a:p>
        </p:txBody>
      </p:sp>
      <p:sp>
        <p:nvSpPr>
          <p:cNvPr id="8" name="Rounded Rectangle 7"/>
          <p:cNvSpPr/>
          <p:nvPr/>
        </p:nvSpPr>
        <p:spPr>
          <a:xfrm>
            <a:off x="8046720" y="1645920"/>
            <a:ext cx="329184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920240"/>
            <a:ext cx="2743200" cy="3931920"/>
          </a:xfrm>
          <a:prstGeom prst="rect">
            <a:avLst/>
          </a:prstGeom>
          <a:noFill/>
        </p:spPr>
        <p:txBody>
          <a:bodyPr wrap="square">
            <a:spAutoFit/>
          </a:bodyPr>
          <a:lstStyle/>
          <a:p>
            <a:pPr>
              <a:defRPr sz="1400" b="1">
                <a:solidFill>
                  <a:srgbClr val="166534"/>
                </a:solidFill>
              </a:defRPr>
            </a:pPr>
            <a:r>
              <a:t>STAGE 3: THE READINESS</a:t>
            </a:r>
          </a:p>
          <a:p>
            <a:pPr>
              <a:defRPr sz="1200" b="1">
                <a:solidFill>
                  <a:srgbClr val="0F172A"/>
                </a:solidFill>
              </a:defRPr>
            </a:pPr>
            <a:r>
              <a:t>Accountability &amp; Receipt</a:t>
            </a:r>
            <a:br/>
          </a:p>
          <a:p>
            <a:pPr>
              <a:defRPr sz="1100">
                <a:solidFill>
                  <a:srgbClr val="334155"/>
                </a:solidFill>
              </a:defRPr>
            </a:pPr>
            <a:r>
              <a:t>1. Soldier views urgent orders and drill code.</a:t>
            </a:r>
          </a:p>
          <a:p>
            <a:pPr>
              <a:defRPr sz="1100">
                <a:solidFill>
                  <a:srgbClr val="334155"/>
                </a:solidFill>
              </a:defRPr>
            </a:pPr>
            <a:r>
              <a:t>2. Soldier taps '✓ I RECEIVED THIS ORDER'.</a:t>
            </a:r>
          </a:p>
          <a:p>
            <a:pPr>
              <a:defRPr sz="1100">
                <a:solidFill>
                  <a:srgbClr val="334155"/>
                </a:solidFill>
              </a:defRPr>
            </a:pPr>
            <a:r>
              <a:t>3. Siren silences immediately.</a:t>
            </a:r>
          </a:p>
          <a:p>
            <a:pPr>
              <a:defRPr sz="1100">
                <a:solidFill>
                  <a:srgbClr val="334155"/>
                </a:solidFill>
              </a:defRPr>
            </a:pPr>
            <a:r>
              <a:t>4. Command console logs troop acknowledgment.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STRATEGIC REQUIREMENT</a:t>
            </a:r>
          </a:p>
          <a:p>
            <a:pPr>
              <a:defRPr sz="2600" b="1">
                <a:solidFill>
                  <a:srgbClr val="0F172A"/>
                </a:solidFill>
                <a:latin typeface="Arial"/>
              </a:defRPr>
            </a:pPr>
            <a:r>
              <a:t>The National Telecom Barrier: Why We Need SENDER ID</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sp>
        <p:nvSpPr>
          <p:cNvPr id="4" name="Rounded Rectangle 3"/>
          <p:cNvSpPr/>
          <p:nvPr/>
        </p:nvSpPr>
        <p:spPr>
          <a:xfrm>
            <a:off x="731520" y="1645920"/>
            <a:ext cx="5120640" cy="438912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931920"/>
          </a:xfrm>
          <a:prstGeom prst="rect">
            <a:avLst/>
          </a:prstGeom>
          <a:noFill/>
        </p:spPr>
        <p:txBody>
          <a:bodyPr wrap="square">
            <a:spAutoFit/>
          </a:bodyPr>
          <a:lstStyle/>
          <a:p>
            <a:pPr>
              <a:defRPr sz="1600" b="1">
                <a:solidFill>
                  <a:srgbClr val="B91C1C"/>
                </a:solidFill>
              </a:defRPr>
            </a:pPr>
            <a:r>
              <a:t>CURRENT PROTOTYPE (SIM GATEWAY)</a:t>
            </a:r>
          </a:p>
          <a:p>
            <a:pPr>
              <a:defRPr sz="1200">
                <a:solidFill>
                  <a:srgbClr val="991B1B"/>
                </a:solidFill>
              </a:defRPr>
            </a:pPr>
            <a:r>
              <a:t>Operates on peer-to-peer SIM cards</a:t>
            </a:r>
            <a:br/>
          </a:p>
          <a:p>
            <a:pPr>
              <a:defRPr sz="1100">
                <a:solidFill>
                  <a:srgbClr val="7F1D1D"/>
                </a:solidFill>
              </a:defRPr>
            </a:pPr>
            <a:r>
              <a:t>✗  NTC Mandate: Telcos (Globe/Smart) aggressively block web links (.com, .app) on SIM traffic to fight smishing.</a:t>
            </a:r>
          </a:p>
          <a:p>
            <a:pPr>
              <a:defRPr sz="1100">
                <a:solidFill>
                  <a:srgbClr val="7F1D1D"/>
                </a:solidFill>
              </a:defRPr>
            </a:pPr>
            <a:r>
              <a:t>✗  Throughput Limit: Maximum 10–15 SMS per minute; inadequate for 1,000+ regional troops.</a:t>
            </a:r>
          </a:p>
          <a:p>
            <a:pPr>
              <a:defRPr sz="1100">
                <a:solidFill>
                  <a:srgbClr val="7F1D1D"/>
                </a:solidFill>
              </a:defRPr>
            </a:pPr>
            <a:r>
              <a:t>✗  Unknown Number: Appears as an ordinary 11-digit cellphone number (e.g. 0917-xxx-xxxx).</a:t>
            </a:r>
          </a:p>
          <a:p>
            <a:pPr>
              <a:defRPr sz="1100">
                <a:solidFill>
                  <a:srgbClr val="7F1D1D"/>
                </a:solidFill>
              </a:defRPr>
            </a:pPr>
            <a:r>
              <a:t>✗  Risk of Carrier Ban: High burst volume can cause telcos to temporarily suspend the SIM.</a:t>
            </a:r>
          </a:p>
        </p:txBody>
      </p:sp>
      <p:sp>
        <p:nvSpPr>
          <p:cNvPr id="6" name="Rounded Rectangle 5"/>
          <p:cNvSpPr/>
          <p:nvPr/>
        </p:nvSpPr>
        <p:spPr>
          <a:xfrm>
            <a:off x="6309360" y="1645920"/>
            <a:ext cx="5120640" cy="438912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931920"/>
          </a:xfrm>
          <a:prstGeom prst="rect">
            <a:avLst/>
          </a:prstGeom>
          <a:noFill/>
        </p:spPr>
        <p:txBody>
          <a:bodyPr wrap="square">
            <a:spAutoFit/>
          </a:bodyPr>
          <a:lstStyle/>
          <a:p>
            <a:pPr>
              <a:defRPr sz="1600" b="1">
                <a:solidFill>
                  <a:srgbClr val="166534"/>
                </a:solidFill>
              </a:defRPr>
            </a:pPr>
            <a:r>
              <a:t>ENTERPRISE ALPHANUMERIC SENDER ID</a:t>
            </a:r>
          </a:p>
          <a:p>
            <a:pPr>
              <a:defRPr sz="1200">
                <a:solidFill>
                  <a:srgbClr val="15803D"/>
                </a:solidFill>
              </a:defRPr>
            </a:pPr>
            <a:r>
              <a:t>Direct Telco A2P Integration (e.g. '10RCDG' or 'RESCOM-PA')</a:t>
            </a:r>
            <a:br/>
          </a:p>
          <a:p>
            <a:pPr>
              <a:defRPr sz="1100">
                <a:solidFill>
                  <a:srgbClr val="14532D"/>
                </a:solidFill>
              </a:defRPr>
            </a:pPr>
            <a:r>
              <a:t>✓  100% Delivery Whitelist: Fully exempt from carrier anti-spam firewalls; allows secure official links.</a:t>
            </a:r>
          </a:p>
          <a:p>
            <a:pPr>
              <a:defRPr sz="1100">
                <a:solidFill>
                  <a:srgbClr val="14532D"/>
                </a:solidFill>
              </a:defRPr>
            </a:pPr>
            <a:r>
              <a:t>✓  Ultra-High Throughput: Dispatches 100+ SMS per second; alerts 1,000+ soldiers in under 15 seconds.</a:t>
            </a:r>
          </a:p>
          <a:p>
            <a:pPr>
              <a:defRPr sz="1100">
                <a:solidFill>
                  <a:srgbClr val="14532D"/>
                </a:solidFill>
              </a:defRPr>
            </a:pPr>
            <a:r>
              <a:t>✓  Official Military Branding: Recipient sees '10RCDG' directly in SMS header — eliminates scam doubt.</a:t>
            </a:r>
          </a:p>
          <a:p>
            <a:pPr>
              <a:defRPr sz="1100">
                <a:solidFill>
                  <a:srgbClr val="14532D"/>
                </a:solidFill>
              </a:defRPr>
            </a:pPr>
            <a:r>
              <a:t>✓  Carrier SLA Guarantee: 99.99% operational uptime backed by Smart, Globe, and DITO networks.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RESOURCE ALLOCATION</a:t>
            </a:r>
          </a:p>
          <a:p>
            <a:pPr>
              <a:defRPr sz="2600" b="1">
                <a:solidFill>
                  <a:srgbClr val="0F172A"/>
                </a:solidFill>
                <a:latin typeface="Arial"/>
              </a:defRPr>
            </a:pPr>
            <a:r>
              <a:t>Budget Proposal &amp; Implementation Investment</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graphicFrame>
        <p:nvGraphicFramePr>
          <p:cNvPr id="4" name="Table 3"/>
          <p:cNvGraphicFramePr>
            <a:graphicFrameLocks noGrp="1"/>
          </p:cNvGraphicFramePr>
          <p:nvPr/>
        </p:nvGraphicFramePr>
        <p:xfrm>
          <a:off x="731520" y="1645920"/>
          <a:ext cx="10698480" cy="3291840"/>
        </p:xfrm>
        <a:graphic>
          <a:graphicData uri="http://schemas.openxmlformats.org/drawingml/2006/table">
            <a:tbl>
              <a:tblPr firstRow="1" bandRow="1">
                <a:tableStyleId>{5C22544A-7EE6-4342-B048-85BDC9FD1C3A}</a:tableStyleId>
              </a:tblPr>
              <a:tblGrid>
                <a:gridCol w="2560320"/>
                <a:gridCol w="4114800"/>
                <a:gridCol w="2011680"/>
                <a:gridCol w="2011680"/>
              </a:tblGrid>
              <a:tr h="658368">
                <a:tc>
                  <a:txBody>
                    <a:bodyPr/>
                    <a:lstStyle/>
                    <a:p>
                      <a:pPr>
                        <a:defRPr b="1" sz="1200">
                          <a:solidFill>
                            <a:srgbClr val="FFFFFF"/>
                          </a:solidFill>
                        </a:defRPr>
                      </a:pPr>
                      <a:r>
                        <a:t>Item / Component</a:t>
                      </a:r>
                    </a:p>
                  </a:txBody>
                  <a:tcPr>
                    <a:solidFill>
                      <a:srgbClr val="0F172A"/>
                    </a:solidFill>
                  </a:tcPr>
                </a:tc>
                <a:tc>
                  <a:txBody>
                    <a:bodyPr/>
                    <a:lstStyle/>
                    <a:p>
                      <a:pPr>
                        <a:defRPr b="1" sz="1200">
                          <a:solidFill>
                            <a:srgbClr val="FFFFFF"/>
                          </a:solidFill>
                        </a:defRPr>
                      </a:pPr>
                      <a:r>
                        <a:t>Operational Purpose</a:t>
                      </a:r>
                    </a:p>
                  </a:txBody>
                  <a:tcPr>
                    <a:solidFill>
                      <a:srgbClr val="0F172A"/>
                    </a:solidFill>
                  </a:tcPr>
                </a:tc>
                <a:tc>
                  <a:txBody>
                    <a:bodyPr/>
                    <a:lstStyle/>
                    <a:p>
                      <a:pPr>
                        <a:defRPr b="1" sz="1200">
                          <a:solidFill>
                            <a:srgbClr val="FFFFFF"/>
                          </a:solidFill>
                        </a:defRPr>
                      </a:pPr>
                      <a:r>
                        <a:t>Provider / Channel</a:t>
                      </a:r>
                    </a:p>
                  </a:txBody>
                  <a:tcPr>
                    <a:solidFill>
                      <a:srgbClr val="0F172A"/>
                    </a:solidFill>
                  </a:tcPr>
                </a:tc>
                <a:tc>
                  <a:txBody>
                    <a:bodyPr/>
                    <a:lstStyle/>
                    <a:p>
                      <a:pPr>
                        <a:defRPr b="1" sz="1200">
                          <a:solidFill>
                            <a:srgbClr val="FFFFFF"/>
                          </a:solidFill>
                        </a:defRPr>
                      </a:pPr>
                      <a:r>
                        <a:t>Estimated Allocation</a:t>
                      </a:r>
                    </a:p>
                  </a:txBody>
                  <a:tcPr>
                    <a:solidFill>
                      <a:srgbClr val="0F172A"/>
                    </a:solidFill>
                  </a:tcPr>
                </a:tc>
              </a:tr>
              <a:tr h="658368">
                <a:tc>
                  <a:txBody>
                    <a:bodyPr/>
                    <a:lstStyle/>
                    <a:p>
                      <a:pPr>
                        <a:defRPr sz="1100">
                          <a:solidFill>
                            <a:srgbClr val="1E293B"/>
                          </a:solidFill>
                        </a:defRPr>
                      </a:pPr>
                      <a:r>
                        <a:t>Official SENDER ID Registration</a:t>
                      </a:r>
                    </a:p>
                  </a:txBody>
                  <a:tcPr>
                    <a:solidFill>
                      <a:srgbClr val="FFFFFF"/>
                    </a:solidFill>
                  </a:tcPr>
                </a:tc>
                <a:tc>
                  <a:txBody>
                    <a:bodyPr/>
                    <a:lstStyle/>
                    <a:p>
                      <a:pPr>
                        <a:defRPr sz="1100">
                          <a:solidFill>
                            <a:srgbClr val="1E293B"/>
                          </a:solidFill>
                        </a:defRPr>
                      </a:pPr>
                      <a:r>
                        <a:t>Registration of '10RCDG' or 'RESCOM-PA' with NTC &amp; Telcos</a:t>
                      </a:r>
                    </a:p>
                  </a:txBody>
                  <a:tcPr>
                    <a:solidFill>
                      <a:srgbClr val="FFFFFF"/>
                    </a:solidFill>
                  </a:tcPr>
                </a:tc>
                <a:tc>
                  <a:txBody>
                    <a:bodyPr/>
                    <a:lstStyle/>
                    <a:p>
                      <a:pPr>
                        <a:defRPr sz="1100">
                          <a:solidFill>
                            <a:srgbClr val="1E293B"/>
                          </a:solidFill>
                        </a:defRPr>
                      </a:pPr>
                      <a:r>
                        <a:t>Telco A2P Partner (Smart/Globe)</a:t>
                      </a:r>
                    </a:p>
                  </a:txBody>
                  <a:tcPr>
                    <a:solidFill>
                      <a:srgbClr val="FFFFFF"/>
                    </a:solidFill>
                  </a:tcPr>
                </a:tc>
                <a:tc>
                  <a:txBody>
                    <a:bodyPr/>
                    <a:lstStyle/>
                    <a:p>
                      <a:pPr>
                        <a:defRPr sz="1100">
                          <a:solidFill>
                            <a:srgbClr val="1E293B"/>
                          </a:solidFill>
                        </a:defRPr>
                      </a:pPr>
                      <a:r>
                        <a:t>One-Time Setup Fee</a:t>
                      </a:r>
                    </a:p>
                  </a:txBody>
                  <a:tcPr>
                    <a:solidFill>
                      <a:srgbClr val="FFFFFF"/>
                    </a:solidFill>
                  </a:tcPr>
                </a:tc>
              </a:tr>
              <a:tr h="658368">
                <a:tc>
                  <a:txBody>
                    <a:bodyPr/>
                    <a:lstStyle/>
                    <a:p>
                      <a:pPr>
                        <a:defRPr sz="1100">
                          <a:solidFill>
                            <a:srgbClr val="1E293B"/>
                          </a:solidFill>
                        </a:defRPr>
                      </a:pPr>
                      <a:r>
                        <a:t>SMS Bulk Credit Allocation</a:t>
                      </a:r>
                    </a:p>
                  </a:txBody>
                  <a:tcPr>
                    <a:solidFill>
                      <a:srgbClr val="F1F5F9"/>
                    </a:solidFill>
                  </a:tcPr>
                </a:tc>
                <a:tc>
                  <a:txBody>
                    <a:bodyPr/>
                    <a:lstStyle/>
                    <a:p>
                      <a:pPr>
                        <a:defRPr sz="1100">
                          <a:solidFill>
                            <a:srgbClr val="1E293B"/>
                          </a:solidFill>
                        </a:defRPr>
                      </a:pPr>
                      <a:r>
                        <a:t>Credit pool for periodic drills, disaster warnings &amp; red alert recall</a:t>
                      </a:r>
                    </a:p>
                  </a:txBody>
                  <a:tcPr>
                    <a:solidFill>
                      <a:srgbClr val="F1F5F9"/>
                    </a:solidFill>
                  </a:tcPr>
                </a:tc>
                <a:tc>
                  <a:txBody>
                    <a:bodyPr/>
                    <a:lstStyle/>
                    <a:p>
                      <a:pPr>
                        <a:defRPr sz="1100">
                          <a:solidFill>
                            <a:srgbClr val="1E293B"/>
                          </a:solidFill>
                        </a:defRPr>
                      </a:pPr>
                      <a:r>
                        <a:t>Telco Direct / Enterprise Tier</a:t>
                      </a:r>
                    </a:p>
                  </a:txBody>
                  <a:tcPr>
                    <a:solidFill>
                      <a:srgbClr val="F1F5F9"/>
                    </a:solidFill>
                  </a:tcPr>
                </a:tc>
                <a:tc>
                  <a:txBody>
                    <a:bodyPr/>
                    <a:lstStyle/>
                    <a:p>
                      <a:pPr>
                        <a:defRPr sz="1100">
                          <a:solidFill>
                            <a:srgbClr val="1E293B"/>
                          </a:solidFill>
                        </a:defRPr>
                      </a:pPr>
                      <a:r>
                        <a:t>Quarterly Operating Fund</a:t>
                      </a:r>
                    </a:p>
                  </a:txBody>
                  <a:tcPr>
                    <a:solidFill>
                      <a:srgbClr val="F1F5F9"/>
                    </a:solidFill>
                  </a:tcPr>
                </a:tc>
              </a:tr>
              <a:tr h="658368">
                <a:tc>
                  <a:txBody>
                    <a:bodyPr/>
                    <a:lstStyle/>
                    <a:p>
                      <a:pPr>
                        <a:defRPr sz="1100">
                          <a:solidFill>
                            <a:srgbClr val="1E293B"/>
                          </a:solidFill>
                        </a:defRPr>
                      </a:pPr>
                      <a:r>
                        <a:t>Cloud Infrastructure &amp; Database</a:t>
                      </a:r>
                    </a:p>
                  </a:txBody>
                  <a:tcPr>
                    <a:solidFill>
                      <a:srgbClr val="FFFFFF"/>
                    </a:solidFill>
                  </a:tcPr>
                </a:tc>
                <a:tc>
                  <a:txBody>
                    <a:bodyPr/>
                    <a:lstStyle/>
                    <a:p>
                      <a:pPr>
                        <a:defRPr sz="1100">
                          <a:solidFill>
                            <a:srgbClr val="1E293B"/>
                          </a:solidFill>
                        </a:defRPr>
                      </a:pPr>
                      <a:r>
                        <a:t>24/7 High-availability server for real-time troop roster &amp; tracking</a:t>
                      </a:r>
                    </a:p>
                  </a:txBody>
                  <a:tcPr>
                    <a:solidFill>
                      <a:srgbClr val="FFFFFF"/>
                    </a:solidFill>
                  </a:tcPr>
                </a:tc>
                <a:tc>
                  <a:txBody>
                    <a:bodyPr/>
                    <a:lstStyle/>
                    <a:p>
                      <a:pPr>
                        <a:defRPr sz="1100">
                          <a:solidFill>
                            <a:srgbClr val="1E293B"/>
                          </a:solidFill>
                        </a:defRPr>
                      </a:pPr>
                      <a:r>
                        <a:t>Convex / Vercel Enterprise</a:t>
                      </a:r>
                    </a:p>
                  </a:txBody>
                  <a:tcPr>
                    <a:solidFill>
                      <a:srgbClr val="FFFFFF"/>
                    </a:solidFill>
                  </a:tcPr>
                </a:tc>
                <a:tc>
                  <a:txBody>
                    <a:bodyPr/>
                    <a:lstStyle/>
                    <a:p>
                      <a:pPr>
                        <a:defRPr sz="1100">
                          <a:solidFill>
                            <a:srgbClr val="1E293B"/>
                          </a:solidFill>
                        </a:defRPr>
                      </a:pPr>
                      <a:r>
                        <a:t>Annual Server Maintenance</a:t>
                      </a:r>
                    </a:p>
                  </a:txBody>
                  <a:tcPr>
                    <a:solidFill>
                      <a:srgbClr val="FFFFFF"/>
                    </a:solidFill>
                  </a:tcPr>
                </a:tc>
              </a:tr>
              <a:tr h="658368">
                <a:tc>
                  <a:txBody>
                    <a:bodyPr/>
                    <a:lstStyle/>
                    <a:p>
                      <a:pPr>
                        <a:defRPr sz="1100">
                          <a:solidFill>
                            <a:srgbClr val="1E293B"/>
                          </a:solidFill>
                        </a:defRPr>
                      </a:pPr>
                      <a:r>
                        <a:t>Maintenance &amp; Security Updates</a:t>
                      </a:r>
                    </a:p>
                  </a:txBody>
                  <a:tcPr>
                    <a:solidFill>
                      <a:srgbClr val="F1F5F9"/>
                    </a:solidFill>
                  </a:tcPr>
                </a:tc>
                <a:tc>
                  <a:txBody>
                    <a:bodyPr/>
                    <a:lstStyle/>
                    <a:p>
                      <a:pPr>
                        <a:defRPr sz="1100">
                          <a:solidFill>
                            <a:srgbClr val="1E293B"/>
                          </a:solidFill>
                        </a:defRPr>
                      </a:pPr>
                      <a:r>
                        <a:t>Android OS patch compatibility (Android 14/15/16) and cipher security</a:t>
                      </a:r>
                    </a:p>
                  </a:txBody>
                  <a:tcPr>
                    <a:solidFill>
                      <a:srgbClr val="F1F5F9"/>
                    </a:solidFill>
                  </a:tcPr>
                </a:tc>
                <a:tc>
                  <a:txBody>
                    <a:bodyPr/>
                    <a:lstStyle/>
                    <a:p>
                      <a:pPr>
                        <a:defRPr sz="1100">
                          <a:solidFill>
                            <a:srgbClr val="1E293B"/>
                          </a:solidFill>
                        </a:defRPr>
                      </a:pPr>
                      <a:r>
                        <a:t>USTP Dev / 10RCDG Cyber Team</a:t>
                      </a:r>
                    </a:p>
                  </a:txBody>
                  <a:tcPr>
                    <a:solidFill>
                      <a:srgbClr val="F1F5F9"/>
                    </a:solidFill>
                  </a:tcPr>
                </a:tc>
                <a:tc>
                  <a:txBody>
                    <a:bodyPr/>
                    <a:lstStyle/>
                    <a:p>
                      <a:pPr>
                        <a:defRPr sz="1100">
                          <a:solidFill>
                            <a:srgbClr val="1E293B"/>
                          </a:solidFill>
                        </a:defRPr>
                      </a:pPr>
                      <a:r>
                        <a:t>Institutional Partnership</a:t>
                      </a:r>
                    </a:p>
                  </a:txBody>
                  <a:tcPr>
                    <a:solidFill>
                      <a:srgbClr val="F1F5F9"/>
                    </a:solidFill>
                  </a:tcPr>
                </a:tc>
              </a:tr>
            </a:tbl>
          </a:graphicData>
        </a:graphic>
      </p:graphicFrame>
      <p:sp>
        <p:nvSpPr>
          <p:cNvPr id="5" name="Rounded Rectangle 4"/>
          <p:cNvSpPr/>
          <p:nvPr/>
        </p:nvSpPr>
        <p:spPr>
          <a:xfrm>
            <a:off x="731520" y="5303520"/>
            <a:ext cx="10698480" cy="1005840"/>
          </a:xfrm>
          <a:prstGeom prst="roundRect">
            <a:avLst/>
          </a:prstGeom>
          <a:solidFill>
            <a:srgbClr val="DCFCE7"/>
          </a:solidFill>
          <a:ln>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6534"/>
                </a:solidFill>
              </a:defRPr>
            </a:pPr>
            <a:r>
              <a:t>STRATEGIC VALUE PROPOSITION:</a:t>
            </a:r>
          </a:p>
          <a:p>
            <a:pPr>
              <a:defRPr sz="1200">
                <a:solidFill>
                  <a:srgbClr val="1E293B"/>
                </a:solidFill>
              </a:defRPr>
            </a:pPr>
            <a:r>
              <a:t>For a fraction of the cost of commercial foreign emergency software, 10RCDG secures a tailored, sovereign defense asset that delivers instantaneous regional command control over thousands of reservists.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97706"/>
                </a:solidFill>
                <a:latin typeface="Arial"/>
              </a:defRPr>
            </a:pPr>
            <a:r>
              <a:t>OPERATIONAL PHASES</a:t>
            </a:r>
          </a:p>
          <a:p>
            <a:pPr>
              <a:defRPr sz="2600" b="1">
                <a:solidFill>
                  <a:srgbClr val="0F172A"/>
                </a:solidFill>
                <a:latin typeface="Arial"/>
              </a:defRPr>
            </a:pPr>
            <a:r>
              <a:t>Deployment Roadmap &amp; Implementation Schedule</a:t>
            </a:r>
          </a:p>
        </p:txBody>
      </p:sp>
      <p:pic>
        <p:nvPicPr>
          <p:cNvPr id="3" name="Picture 2" descr="rescom-emblem.jpg"/>
          <p:cNvPicPr>
            <a:picLocks noChangeAspect="1"/>
          </p:cNvPicPr>
          <p:nvPr/>
        </p:nvPicPr>
        <p:blipFill>
          <a:blip r:embed="rId2"/>
          <a:stretch>
            <a:fillRect/>
          </a:stretch>
        </p:blipFill>
        <p:spPr>
          <a:xfrm>
            <a:off x="10972800" y="365760"/>
            <a:ext cx="685800" cy="685800"/>
          </a:xfrm>
          <a:prstGeom prst="rect">
            <a:avLst/>
          </a:prstGeom>
        </p:spPr>
      </p:pic>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291840" cy="10972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743200" cy="3931920"/>
          </a:xfrm>
          <a:prstGeom prst="rect">
            <a:avLst/>
          </a:prstGeom>
          <a:noFill/>
        </p:spPr>
        <p:txBody>
          <a:bodyPr wrap="square">
            <a:spAutoFit/>
          </a:bodyPr>
          <a:lstStyle/>
          <a:p>
            <a:pPr>
              <a:defRPr sz="1000" b="1">
                <a:solidFill>
                  <a:srgbClr val="166534"/>
                </a:solidFill>
              </a:defRPr>
            </a:pPr>
            <a:r>
              <a:t>OCTOBER 2026</a:t>
            </a:r>
          </a:p>
          <a:p>
            <a:pPr>
              <a:defRPr sz="1500" b="1">
                <a:solidFill>
                  <a:srgbClr val="0F172A"/>
                </a:solidFill>
              </a:defRPr>
            </a:pPr>
            <a:r>
              <a:t>PHASE 1 (COMPLETED)</a:t>
            </a:r>
          </a:p>
          <a:p>
            <a:pPr>
              <a:defRPr sz="1200" b="1">
                <a:solidFill>
                  <a:srgbClr val="64748B"/>
                </a:solidFill>
              </a:defRPr>
            </a:pPr>
            <a:r>
              <a:t>POC &amp; Field Testing</a:t>
            </a:r>
            <a:br/>
          </a:p>
          <a:p>
            <a:pPr>
              <a:defRPr sz="1100">
                <a:solidFill>
                  <a:srgbClr val="334155"/>
                </a:solidFill>
              </a:defRPr>
            </a:pPr>
            <a:r>
              <a:t>• Full-stack Next.js Command Portal built</a:t>
            </a:r>
          </a:p>
          <a:p>
            <a:pPr>
              <a:defRPr sz="1100">
                <a:solidFill>
                  <a:srgbClr val="334155"/>
                </a:solidFill>
              </a:defRPr>
            </a:pPr>
            <a:r>
              <a:t>• Android lockscreen siren engine verified</a:t>
            </a:r>
          </a:p>
          <a:p>
            <a:pPr>
              <a:defRPr sz="1100">
                <a:solidFill>
                  <a:srgbClr val="334155"/>
                </a:solidFill>
              </a:defRPr>
            </a:pPr>
            <a:r>
              <a:t>• Public download portal (/download) live</a:t>
            </a:r>
          </a:p>
          <a:p>
            <a:pPr>
              <a:defRPr sz="1100">
                <a:solidFill>
                  <a:srgbClr val="334155"/>
                </a:solidFill>
              </a:defRPr>
            </a:pPr>
            <a:r>
              <a:t>• Offline SMS receiver validated on devices</a:t>
            </a:r>
          </a:p>
        </p:txBody>
      </p:sp>
      <p:sp>
        <p:nvSpPr>
          <p:cNvPr id="7" name="Rounded Rectangle 6"/>
          <p:cNvSpPr/>
          <p:nvPr/>
        </p:nvSpPr>
        <p:spPr>
          <a:xfrm>
            <a:off x="43891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1645920"/>
            <a:ext cx="329184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20240"/>
            <a:ext cx="2743200" cy="3931920"/>
          </a:xfrm>
          <a:prstGeom prst="rect">
            <a:avLst/>
          </a:prstGeom>
          <a:noFill/>
        </p:spPr>
        <p:txBody>
          <a:bodyPr wrap="square">
            <a:spAutoFit/>
          </a:bodyPr>
          <a:lstStyle/>
          <a:p>
            <a:pPr>
              <a:defRPr sz="1000" b="1">
                <a:solidFill>
                  <a:srgbClr val="2563EB"/>
                </a:solidFill>
              </a:defRPr>
            </a:pPr>
            <a:r>
              <a:t>NOVEMBER 2026</a:t>
            </a:r>
          </a:p>
          <a:p>
            <a:pPr>
              <a:defRPr sz="1500" b="1">
                <a:solidFill>
                  <a:srgbClr val="0F172A"/>
                </a:solidFill>
              </a:defRPr>
            </a:pPr>
            <a:r>
              <a:t>PHASE 2 (CURRENT)</a:t>
            </a:r>
          </a:p>
          <a:p>
            <a:pPr>
              <a:defRPr sz="1200" b="1">
                <a:solidFill>
                  <a:srgbClr val="64748B"/>
                </a:solidFill>
              </a:defRPr>
            </a:pPr>
            <a:r>
              <a:t>SENDER ID &amp; Carrier Link</a:t>
            </a:r>
            <a:br/>
          </a:p>
          <a:p>
            <a:pPr>
              <a:defRPr sz="1100">
                <a:solidFill>
                  <a:srgbClr val="334155"/>
                </a:solidFill>
              </a:defRPr>
            </a:pPr>
            <a:r>
              <a:t>• File NTC accreditation documents</a:t>
            </a:r>
          </a:p>
          <a:p>
            <a:pPr>
              <a:defRPr sz="1100">
                <a:solidFill>
                  <a:srgbClr val="334155"/>
                </a:solidFill>
              </a:defRPr>
            </a:pPr>
            <a:r>
              <a:t>• Onboard Smart &amp; Globe A2P accounts</a:t>
            </a:r>
          </a:p>
          <a:p>
            <a:pPr>
              <a:defRPr sz="1100">
                <a:solidFill>
                  <a:srgbClr val="334155"/>
                </a:solidFill>
              </a:defRPr>
            </a:pPr>
            <a:r>
              <a:t>• Register official '10RCDG' Sender ID</a:t>
            </a:r>
          </a:p>
          <a:p>
            <a:pPr>
              <a:defRPr sz="1100">
                <a:solidFill>
                  <a:srgbClr val="334155"/>
                </a:solidFill>
              </a:defRPr>
            </a:pPr>
            <a:r>
              <a:t>• Configure high-speed SMS API gateway</a:t>
            </a:r>
          </a:p>
        </p:txBody>
      </p:sp>
      <p:sp>
        <p:nvSpPr>
          <p:cNvPr id="10" name="Rounded Rectangle 9"/>
          <p:cNvSpPr/>
          <p:nvPr/>
        </p:nvSpPr>
        <p:spPr>
          <a:xfrm>
            <a:off x="80467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645920"/>
            <a:ext cx="329184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920240"/>
            <a:ext cx="2743200" cy="3931920"/>
          </a:xfrm>
          <a:prstGeom prst="rect">
            <a:avLst/>
          </a:prstGeom>
          <a:noFill/>
        </p:spPr>
        <p:txBody>
          <a:bodyPr wrap="square">
            <a:spAutoFit/>
          </a:bodyPr>
          <a:lstStyle/>
          <a:p>
            <a:pPr>
              <a:defRPr sz="1000" b="1">
                <a:solidFill>
                  <a:srgbClr val="7C3AED"/>
                </a:solidFill>
              </a:defRPr>
            </a:pPr>
            <a:r>
              <a:t>DECEMBER 2026</a:t>
            </a:r>
          </a:p>
          <a:p>
            <a:pPr>
              <a:defRPr sz="1500" b="1">
                <a:solidFill>
                  <a:srgbClr val="0F172A"/>
                </a:solidFill>
              </a:defRPr>
            </a:pPr>
            <a:r>
              <a:t>PHASE 3 (DEPLOYMENT)</a:t>
            </a:r>
          </a:p>
          <a:p>
            <a:pPr>
              <a:defRPr sz="1200" b="1">
                <a:solidFill>
                  <a:srgbClr val="64748B"/>
                </a:solidFill>
              </a:defRPr>
            </a:pPr>
            <a:r>
              <a:t>Regional CDC Rollout</a:t>
            </a:r>
            <a:br/>
          </a:p>
          <a:p>
            <a:pPr>
              <a:defRPr sz="1100">
                <a:solidFill>
                  <a:srgbClr val="334155"/>
                </a:solidFill>
              </a:defRPr>
            </a:pPr>
            <a:r>
              <a:t>• Sideload distribution across 1001st-1005th CDCs</a:t>
            </a:r>
          </a:p>
          <a:p>
            <a:pPr>
              <a:defRPr sz="1100">
                <a:solidFill>
                  <a:srgbClr val="334155"/>
                </a:solidFill>
              </a:defRPr>
            </a:pPr>
            <a:r>
              <a:t>• Conduct scheduled Command Comms Check</a:t>
            </a:r>
          </a:p>
          <a:p>
            <a:pPr>
              <a:defRPr sz="1100">
                <a:solidFill>
                  <a:srgbClr val="334155"/>
                </a:solidFill>
              </a:defRPr>
            </a:pPr>
            <a:r>
              <a:t>• Integrate battalion roster databases</a:t>
            </a:r>
          </a:p>
          <a:p>
            <a:pPr>
              <a:defRPr sz="1100">
                <a:solidFill>
                  <a:srgbClr val="334155"/>
                </a:solidFill>
              </a:defRPr>
            </a:pPr>
            <a:r>
              <a:t>• Full operational readiness handover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escom-emblem.jpg"/>
          <p:cNvPicPr>
            <a:picLocks noChangeAspect="1"/>
          </p:cNvPicPr>
          <p:nvPr/>
        </p:nvPicPr>
        <p:blipFill>
          <a:blip r:embed="rId2"/>
          <a:stretch>
            <a:fillRect/>
          </a:stretch>
        </p:blipFill>
        <p:spPr>
          <a:xfrm>
            <a:off x="5394960" y="1097280"/>
            <a:ext cx="1371600" cy="1371600"/>
          </a:xfrm>
          <a:prstGeom prst="rect">
            <a:avLst/>
          </a:prstGeom>
        </p:spPr>
      </p:pic>
      <p:sp>
        <p:nvSpPr>
          <p:cNvPr id="4" name="TextBox 3"/>
          <p:cNvSpPr txBox="1"/>
          <p:nvPr/>
        </p:nvSpPr>
        <p:spPr>
          <a:xfrm>
            <a:off x="1371600" y="2743200"/>
            <a:ext cx="9418320" cy="3200400"/>
          </a:xfrm>
          <a:prstGeom prst="rect">
            <a:avLst/>
          </a:prstGeom>
          <a:noFill/>
        </p:spPr>
        <p:txBody>
          <a:bodyPr wrap="square">
            <a:spAutoFit/>
          </a:bodyPr>
          <a:lstStyle/>
          <a:p>
            <a:pPr algn="ctr">
              <a:defRPr sz="1400" b="1">
                <a:solidFill>
                  <a:srgbClr val="D97706"/>
                </a:solidFill>
              </a:defRPr>
            </a:pPr>
            <a:r>
              <a:t>EMPOWERING 10RCDG WITH MISSION-CRITICAL READINESS</a:t>
            </a:r>
          </a:p>
          <a:p>
            <a:pPr algn="ctr">
              <a:defRPr sz="3200" b="1">
                <a:solidFill>
                  <a:srgbClr val="FFFFFF"/>
                </a:solidFill>
              </a:defRPr>
            </a:pPr>
            <a:r>
              <a:t>When Every Second Counts, Silence is Not an Option.</a:t>
            </a:r>
          </a:p>
          <a:p>
            <a:br/>
            <a:pPr algn="ctr">
              <a:defRPr sz="1800">
                <a:solidFill>
                  <a:srgbClr val="10B981"/>
                </a:solidFill>
              </a:defRPr>
            </a:pPr>
            <a:r>
              <a:t>Thank you, Sir / Ma'am. The floor is now open for questions and technical evaluation.</a:t>
            </a:r>
          </a:p>
          <a:p>
            <a:br/>
            <a:pPr algn="ctr">
              <a:defRPr sz="1300">
                <a:solidFill>
                  <a:srgbClr val="94A3B8"/>
                </a:solidFill>
              </a:defRPr>
            </a:pPr>
            <a:r>
              <a:t>Javier Siliacay  •  USTP Autotronics  •  RESCOM-ALERT Lead Developer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