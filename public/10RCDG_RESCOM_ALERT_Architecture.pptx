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day, Colonel, and members of the 10RCDG Command Staff.</a:t>
            </a:r>
          </a:p>
          <a:p>
            <a:r>
              <a:t>Today I am presenting RESCOM-ALERT — a purpose-built tactical technology designed to solve one critical problem: ensuring emergency mobilization orders wake up and alert our reservists, even when their phones are locked, muted, or offline.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Sir, our current communication has three major fatal flaws during rapid mobilization:</a:t>
            </a:r>
          </a:p>
          <a:p>
            <a:r>
              <a:t>1. Over 70% of personnel keep phones on silent or Do Not Disturb. Regular text dings don't wake people up.</a:t>
            </a:r>
          </a:p>
          <a:p>
            <a:r>
              <a:t>2. Chat apps like Messenger depend entirely on internet data. When typhoons or earthquakes knock out cell data, communication is dead.</a:t>
            </a:r>
          </a:p>
          <a:p>
            <a:r>
              <a:t>3. Commanders have zero headcount visibility.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Sir, this diagram shows the entire signal pipeline in 3 clear steps:</a:t>
            </a:r>
          </a:p>
          <a:p>
            <a:r>
              <a:t>Step 1: Headquarters initiates the order on the Command Web Portal.</a:t>
            </a:r>
          </a:p>
          <a:p>
            <a:r>
              <a:t>Step 2: The alert travels over the standard cellular airwaves via basic SMS — notice there is ZERO reliance on internet data. Even if mobile data is dead, basic SMS penetrates.</a:t>
            </a:r>
          </a:p>
          <a:p>
            <a:r>
              <a:t>Step 3: The soldier's Android phone receives the payload. The background receiver intercepts it, overrides all volume settings, turns on the locked screen with the 10RCDG emblem, and sounds the siren until acknowledged.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summarize the four core capabilities of the mobile engine:</a:t>
            </a:r>
          </a:p>
          <a:p>
            <a:r>
              <a:t>First: Volume slider bypass.</a:t>
            </a:r>
          </a:p>
          <a:p>
            <a:r>
              <a:t>Second: Screen wake takeover.</a:t>
            </a:r>
          </a:p>
          <a:p>
            <a:r>
              <a:t>Third: Total offline operation.</a:t>
            </a:r>
          </a:p>
          <a:p>
            <a:r>
              <a:t>Fourth: Acknowledgment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[PAUSE FOR LIVE DEMONSTRATION]</a:t>
            </a:r>
          </a:p>
          <a:p>
            <a:r>
              <a:t>Sir, to demonstrate this technology, I have placed a test phone right here on the table — it is locked and set to silent.</a:t>
            </a:r>
          </a:p>
          <a:p>
            <a:r>
              <a:t>From my laptop portal, I am now firing a live drill alert...</a:t>
            </a:r>
          </a:p>
          <a:p>
            <a:r>
              <a:t>[TRIGGER ALERT]</a:t>
            </a:r>
          </a:p>
          <a:p>
            <a:r>
              <a:t>As you can hear and see, the phone immediately activates at full volume. The order cannot be missed.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Sir, this is why we are here today.</a:t>
            </a:r>
          </a:p>
          <a:p>
            <a:r>
              <a:t>The software and technology are already 100% built and functioning.</a:t>
            </a:r>
          </a:p>
          <a:p>
            <a:r>
              <a:t>What we need from national command is budget allocation for an Official Alphanumeric SENDER ID (such as '10RCDG').</a:t>
            </a:r>
          </a:p>
          <a:p>
            <a:r>
              <a:t>With a verified Sender ID, our alerts arrive under the official 10RCDG banner, bypass carrier spam blocking, and dispatch to thousands of troops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conclusion, Sir/Ma'am:</a:t>
            </a:r>
          </a:p>
          <a:p>
            <a:r>
              <a:t>The technology works. The app is ready. The command console is operational.</a:t>
            </a:r>
          </a:p>
          <a:p>
            <a:r>
              <a:t>With your endorsement and budget for the SENDER ID, 10RCDG will become the fastest, most technologically responsive mobilization command in the Philippine Army.</a:t>
            </a:r>
          </a:p>
          <a:p>
            <a:r>
              <a:t>Thank you, Sir. I am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484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2"/>
          <a:stretch>
            <a:fillRect/>
          </a:stretch>
        </p:blipFill>
        <p:spPr>
          <a:xfrm>
            <a:off x="5029200" y="1280160"/>
            <a:ext cx="1005840" cy="1005840"/>
          </a:xfrm>
          <a:prstGeom prst="rect">
            <a:avLst/>
          </a:prstGeom>
        </p:spPr>
      </p:pic>
      <p:pic>
        <p:nvPicPr>
          <p:cNvPr id="5" name="Picture 4" descr="rescom-pa-seal.png"/>
          <p:cNvPicPr>
            <a:picLocks noChangeAspect="1"/>
          </p:cNvPicPr>
          <p:nvPr/>
        </p:nvPicPr>
        <p:blipFill>
          <a:blip r:embed="rId3"/>
          <a:stretch>
            <a:fillRect/>
          </a:stretch>
        </p:blipFill>
        <p:spPr>
          <a:xfrm>
            <a:off x="6217920" y="1280160"/>
            <a:ext cx="1005840" cy="1005840"/>
          </a:xfrm>
          <a:prstGeom prst="rect">
            <a:avLst/>
          </a:prstGeom>
        </p:spPr>
      </p:pic>
      <p:sp>
        <p:nvSpPr>
          <p:cNvPr id="6" name="Rounded Rectangle 5"/>
          <p:cNvSpPr/>
          <p:nvPr/>
        </p:nvSpPr>
        <p:spPr>
          <a:xfrm>
            <a:off x="3931920" y="2468880"/>
            <a:ext cx="4297680" cy="3474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47857"/>
                </a:solidFill>
              </a:defRPr>
            </a:pPr>
            <a:r>
              <a:t>10RCDG RAPID MOBILIZATION SYSTEM</a:t>
            </a:r>
          </a:p>
        </p:txBody>
      </p:sp>
      <p:sp>
        <p:nvSpPr>
          <p:cNvPr id="7" name="TextBox 6"/>
          <p:cNvSpPr txBox="1"/>
          <p:nvPr/>
        </p:nvSpPr>
        <p:spPr>
          <a:xfrm>
            <a:off x="1828800" y="3017520"/>
            <a:ext cx="8534095" cy="1645920"/>
          </a:xfrm>
          <a:prstGeom prst="rect">
            <a:avLst/>
          </a:prstGeom>
          <a:noFill/>
        </p:spPr>
        <p:txBody>
          <a:bodyPr wrap="square">
            <a:spAutoFit/>
          </a:bodyPr>
          <a:lstStyle/>
          <a:p>
            <a:pPr algn="ctr">
              <a:defRPr sz="4400" b="1">
                <a:solidFill>
                  <a:srgbClr val="0F172A"/>
                </a:solidFill>
              </a:defRPr>
            </a:pPr>
            <a:r>
              <a:t>RESCOM-ALERT</a:t>
            </a:r>
          </a:p>
          <a:p>
            <a:pPr algn="ctr">
              <a:defRPr sz="1800">
                <a:solidFill>
                  <a:srgbClr val="475569"/>
                </a:solidFill>
              </a:defRPr>
            </a:pPr>
            <a:r>
              <a:t>Emergency Siren Override &amp; Instant Troop Recall Technology</a:t>
            </a:r>
          </a:p>
        </p:txBody>
      </p:sp>
      <p:sp>
        <p:nvSpPr>
          <p:cNvPr id="8" name="TextBox 7"/>
          <p:cNvSpPr txBox="1"/>
          <p:nvPr/>
        </p:nvSpPr>
        <p:spPr>
          <a:xfrm>
            <a:off x="1828800" y="4754880"/>
            <a:ext cx="8534095" cy="731520"/>
          </a:xfrm>
          <a:prstGeom prst="rect">
            <a:avLst/>
          </a:prstGeom>
          <a:noFill/>
        </p:spPr>
        <p:txBody>
          <a:bodyPr wrap="none">
            <a:spAutoFit/>
          </a:bodyPr>
          <a:lstStyle/>
          <a:p>
            <a:pPr algn="ctr">
              <a:defRPr sz="1300" b="1">
                <a:solidFill>
                  <a:srgbClr val="0F172A"/>
                </a:solidFill>
              </a:defRPr>
            </a:pPr>
            <a:r>
              <a:t>Javier Siliacay (aka vier from USTP Autotronics)</a:t>
            </a:r>
          </a:p>
          <a:p>
            <a:pPr algn="ctr">
              <a:defRPr sz="1100">
                <a:solidFill>
                  <a:srgbClr val="94A3B8"/>
                </a:solidFill>
              </a:defRPr>
            </a:pPr>
            <a:r>
              <a:t>Lead Systems Developer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457200"/>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THE PROBLEM</a:t>
            </a:r>
          </a:p>
        </p:txBody>
      </p:sp>
      <p:sp>
        <p:nvSpPr>
          <p:cNvPr id="4" name="TextBox 3"/>
          <p:cNvSpPr txBox="1"/>
          <p:nvPr/>
        </p:nvSpPr>
        <p:spPr>
          <a:xfrm>
            <a:off x="914400" y="868680"/>
            <a:ext cx="8686800" cy="594360"/>
          </a:xfrm>
          <a:prstGeom prst="rect">
            <a:avLst/>
          </a:prstGeom>
          <a:noFill/>
        </p:spPr>
        <p:txBody>
          <a:bodyPr wrap="none" lIns="0" tIns="0" rIns="0" bIns="0">
            <a:spAutoFit/>
          </a:bodyPr>
          <a:lstStyle/>
          <a:p>
            <a:pPr>
              <a:defRPr sz="2600" b="1">
                <a:solidFill>
                  <a:srgbClr val="0F172A"/>
                </a:solidFill>
              </a:defRPr>
            </a:pPr>
            <a:r>
              <a:t>Why Conventional Messaging Fails in Emergencies</a:t>
            </a:r>
          </a:p>
        </p:txBody>
      </p:sp>
      <p:pic>
        <p:nvPicPr>
          <p:cNvPr id="5" name="Picture 4" descr="rescom-emblem.jpg"/>
          <p:cNvPicPr>
            <a:picLocks noChangeAspect="1"/>
          </p:cNvPicPr>
          <p:nvPr/>
        </p:nvPicPr>
        <p:blipFill>
          <a:blip r:embed="rId2"/>
          <a:stretch>
            <a:fillRect/>
          </a:stretch>
        </p:blipFill>
        <p:spPr>
          <a:xfrm>
            <a:off x="10607040" y="457200"/>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02 / 07</a:t>
            </a:r>
          </a:p>
        </p:txBody>
      </p:sp>
      <p:sp>
        <p:nvSpPr>
          <p:cNvPr id="8" name="Rounded Rectangle 7"/>
          <p:cNvSpPr/>
          <p:nvPr/>
        </p:nvSpPr>
        <p:spPr>
          <a:xfrm>
            <a:off x="91440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94560"/>
            <a:ext cx="2468880" cy="7315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C2626"/>
                </a:solidFill>
              </a:defRPr>
            </a:pPr>
            <a:r>
              <a:t>74% SILENT</a:t>
            </a:r>
          </a:p>
        </p:txBody>
      </p:sp>
      <p:sp>
        <p:nvSpPr>
          <p:cNvPr id="10" name="TextBox 9"/>
          <p:cNvSpPr txBox="1"/>
          <p:nvPr/>
        </p:nvSpPr>
        <p:spPr>
          <a:xfrm>
            <a:off x="1234440" y="3200400"/>
            <a:ext cx="2560320" cy="2286000"/>
          </a:xfrm>
          <a:prstGeom prst="rect">
            <a:avLst/>
          </a:prstGeom>
          <a:noFill/>
        </p:spPr>
        <p:txBody>
          <a:bodyPr wrap="square">
            <a:spAutoFit/>
          </a:bodyPr>
          <a:lstStyle/>
          <a:p>
            <a:pPr>
              <a:defRPr sz="1500" b="1">
                <a:solidFill>
                  <a:srgbClr val="0F172A"/>
                </a:solidFill>
              </a:defRPr>
            </a:pPr>
            <a:r>
              <a:t>Phones on Mute &amp; DND</a:t>
            </a:r>
          </a:p>
          <a:p>
            <a:br/>
            <a:pPr>
              <a:defRPr sz="1200">
                <a:solidFill>
                  <a:srgbClr val="475569"/>
                </a:solidFill>
              </a:defRPr>
            </a:pPr>
            <a:r>
              <a:t>Troops sleep through or miss standard SMS dings and chat notifications during Red Alerts.</a:t>
            </a:r>
          </a:p>
        </p:txBody>
      </p:sp>
      <p:sp>
        <p:nvSpPr>
          <p:cNvPr id="11" name="Rounded Rectangle 10"/>
          <p:cNvSpPr/>
          <p:nvPr/>
        </p:nvSpPr>
        <p:spPr>
          <a:xfrm>
            <a:off x="448056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194560"/>
            <a:ext cx="2468880" cy="73152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97706"/>
                </a:solidFill>
              </a:defRPr>
            </a:pPr>
            <a:r>
              <a:t>NO DATA</a:t>
            </a:r>
          </a:p>
        </p:txBody>
      </p:sp>
      <p:sp>
        <p:nvSpPr>
          <p:cNvPr id="13" name="TextBox 12"/>
          <p:cNvSpPr txBox="1"/>
          <p:nvPr/>
        </p:nvSpPr>
        <p:spPr>
          <a:xfrm>
            <a:off x="4800600" y="3200400"/>
            <a:ext cx="2560320" cy="2286000"/>
          </a:xfrm>
          <a:prstGeom prst="rect">
            <a:avLst/>
          </a:prstGeom>
          <a:noFill/>
        </p:spPr>
        <p:txBody>
          <a:bodyPr wrap="square">
            <a:spAutoFit/>
          </a:bodyPr>
          <a:lstStyle/>
          <a:p>
            <a:pPr>
              <a:defRPr sz="1500" b="1">
                <a:solidFill>
                  <a:srgbClr val="0F172A"/>
                </a:solidFill>
              </a:defRPr>
            </a:pPr>
            <a:r>
              <a:t>Chat Apps Fail in Storms</a:t>
            </a:r>
          </a:p>
          <a:p>
            <a:br/>
            <a:pPr>
              <a:defRPr sz="1200">
                <a:solidFill>
                  <a:srgbClr val="475569"/>
                </a:solidFill>
              </a:defRPr>
            </a:pPr>
            <a:r>
              <a:t>Messenger and Viber require active internet. When cell towers lose data, chat groups fail.</a:t>
            </a:r>
          </a:p>
        </p:txBody>
      </p:sp>
      <p:sp>
        <p:nvSpPr>
          <p:cNvPr id="14" name="Rounded Rectangle 13"/>
          <p:cNvSpPr/>
          <p:nvPr/>
        </p:nvSpPr>
        <p:spPr>
          <a:xfrm>
            <a:off x="804672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2194560"/>
            <a:ext cx="2468880" cy="73152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F172A"/>
                </a:solidFill>
              </a:defRPr>
            </a:pPr>
            <a:r>
              <a:t>NO HEADCOUNT</a:t>
            </a:r>
          </a:p>
        </p:txBody>
      </p:sp>
      <p:sp>
        <p:nvSpPr>
          <p:cNvPr id="16" name="TextBox 15"/>
          <p:cNvSpPr txBox="1"/>
          <p:nvPr/>
        </p:nvSpPr>
        <p:spPr>
          <a:xfrm>
            <a:off x="8366760" y="3200400"/>
            <a:ext cx="2560320" cy="2286000"/>
          </a:xfrm>
          <a:prstGeom prst="rect">
            <a:avLst/>
          </a:prstGeom>
          <a:noFill/>
        </p:spPr>
        <p:txBody>
          <a:bodyPr wrap="square">
            <a:spAutoFit/>
          </a:bodyPr>
          <a:lstStyle/>
          <a:p>
            <a:pPr>
              <a:defRPr sz="1500" b="1">
                <a:solidFill>
                  <a:srgbClr val="0F172A"/>
                </a:solidFill>
              </a:defRPr>
            </a:pPr>
            <a:r>
              <a:t>Zero Acknowledgment</a:t>
            </a:r>
          </a:p>
          <a:p>
            <a:br/>
            <a:pPr>
              <a:defRPr sz="1200">
                <a:solidFill>
                  <a:srgbClr val="475569"/>
                </a:solidFill>
              </a:defRPr>
            </a:pPr>
            <a:r>
              <a:t>Commanders have no way to verify who received the order and who is actively en route.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457200"/>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SYSTEM ARCHITECTURE</a:t>
            </a:r>
          </a:p>
        </p:txBody>
      </p:sp>
      <p:sp>
        <p:nvSpPr>
          <p:cNvPr id="4" name="TextBox 3"/>
          <p:cNvSpPr txBox="1"/>
          <p:nvPr/>
        </p:nvSpPr>
        <p:spPr>
          <a:xfrm>
            <a:off x="914400" y="868680"/>
            <a:ext cx="8686800" cy="594360"/>
          </a:xfrm>
          <a:prstGeom prst="rect">
            <a:avLst/>
          </a:prstGeom>
          <a:noFill/>
        </p:spPr>
        <p:txBody>
          <a:bodyPr wrap="none" lIns="0" tIns="0" rIns="0" bIns="0">
            <a:spAutoFit/>
          </a:bodyPr>
          <a:lstStyle/>
          <a:p>
            <a:pPr>
              <a:defRPr sz="2600" b="1">
                <a:solidFill>
                  <a:srgbClr val="0F172A"/>
                </a:solidFill>
              </a:defRPr>
            </a:pPr>
            <a:r>
              <a:t>End-to-End Operational Signal Flow</a:t>
            </a:r>
          </a:p>
        </p:txBody>
      </p:sp>
      <p:pic>
        <p:nvPicPr>
          <p:cNvPr id="5" name="Picture 4" descr="rescom-emblem.jpg"/>
          <p:cNvPicPr>
            <a:picLocks noChangeAspect="1"/>
          </p:cNvPicPr>
          <p:nvPr/>
        </p:nvPicPr>
        <p:blipFill>
          <a:blip r:embed="rId2"/>
          <a:stretch>
            <a:fillRect/>
          </a:stretch>
        </p:blipFill>
        <p:spPr>
          <a:xfrm>
            <a:off x="10607040" y="457200"/>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03 / 07</a:t>
            </a:r>
          </a:p>
        </p:txBody>
      </p:sp>
      <p:sp>
        <p:nvSpPr>
          <p:cNvPr id="8" name="Rounded Rectangle 7"/>
          <p:cNvSpPr/>
          <p:nvPr/>
        </p:nvSpPr>
        <p:spPr>
          <a:xfrm>
            <a:off x="914400" y="1828800"/>
            <a:ext cx="29260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8720" y="2103120"/>
            <a:ext cx="2377440" cy="45720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47857"/>
                </a:solidFill>
              </a:defRPr>
            </a:pPr>
            <a:r>
              <a:t>10RCDG HEADQUARTERS</a:t>
            </a:r>
          </a:p>
        </p:txBody>
      </p:sp>
      <p:sp>
        <p:nvSpPr>
          <p:cNvPr id="10" name="TextBox 9"/>
          <p:cNvSpPr txBox="1"/>
          <p:nvPr/>
        </p:nvSpPr>
        <p:spPr>
          <a:xfrm>
            <a:off x="1097280" y="2743200"/>
            <a:ext cx="2560320" cy="2834640"/>
          </a:xfrm>
          <a:prstGeom prst="rect">
            <a:avLst/>
          </a:prstGeom>
          <a:noFill/>
        </p:spPr>
        <p:txBody>
          <a:bodyPr wrap="square">
            <a:spAutoFit/>
          </a:bodyPr>
          <a:lstStyle/>
          <a:p>
            <a:pPr>
              <a:defRPr sz="1400" b="1">
                <a:solidFill>
                  <a:srgbClr val="0F172A"/>
                </a:solidFill>
              </a:defRPr>
            </a:pPr>
            <a:r>
              <a:t>Command Web Portal</a:t>
            </a:r>
            <a:br/>
          </a:p>
          <a:p>
            <a:pPr>
              <a:defRPr sz="1100">
                <a:solidFill>
                  <a:srgbClr val="475569"/>
                </a:solidFill>
              </a:defRPr>
            </a:pPr>
            <a:r>
              <a:t>•  Officer logs into secure console</a:t>
            </a:r>
          </a:p>
          <a:p>
            <a:pPr>
              <a:defRPr sz="1100">
                <a:solidFill>
                  <a:srgbClr val="475569"/>
                </a:solidFill>
              </a:defRPr>
            </a:pPr>
            <a:r>
              <a:t>•  Selects Target CDC (e.g. 1001st)</a:t>
            </a:r>
          </a:p>
          <a:p>
            <a:pPr>
              <a:defRPr sz="1100">
                <a:solidFill>
                  <a:srgbClr val="475569"/>
                </a:solidFill>
              </a:defRPr>
            </a:pPr>
            <a:r>
              <a:t>•  Enters emergency directive</a:t>
            </a:r>
          </a:p>
          <a:p>
            <a:pPr>
              <a:defRPr sz="1100">
                <a:solidFill>
                  <a:srgbClr val="475569"/>
                </a:solidFill>
              </a:defRPr>
            </a:pPr>
            <a:r>
              <a:t>•  Clicks 'Transmit Siren Alert'</a:t>
            </a:r>
          </a:p>
        </p:txBody>
      </p:sp>
      <p:sp>
        <p:nvSpPr>
          <p:cNvPr id="11" name="Right Arrow 10"/>
          <p:cNvSpPr/>
          <p:nvPr/>
        </p:nvSpPr>
        <p:spPr>
          <a:xfrm>
            <a:off x="3977639" y="3474720"/>
            <a:ext cx="548640" cy="320040"/>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63440" y="1828800"/>
            <a:ext cx="29260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37760" y="2103120"/>
            <a:ext cx="2377440" cy="4572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D4ED8"/>
                </a:solidFill>
              </a:defRPr>
            </a:pPr>
            <a:r>
              <a:t>TELCO INFRASTRUCTURE</a:t>
            </a:r>
          </a:p>
        </p:txBody>
      </p:sp>
      <p:sp>
        <p:nvSpPr>
          <p:cNvPr id="14" name="TextBox 13"/>
          <p:cNvSpPr txBox="1"/>
          <p:nvPr/>
        </p:nvSpPr>
        <p:spPr>
          <a:xfrm>
            <a:off x="4846320" y="2743200"/>
            <a:ext cx="2560320" cy="2834640"/>
          </a:xfrm>
          <a:prstGeom prst="rect">
            <a:avLst/>
          </a:prstGeom>
          <a:noFill/>
        </p:spPr>
        <p:txBody>
          <a:bodyPr wrap="square">
            <a:spAutoFit/>
          </a:bodyPr>
          <a:lstStyle/>
          <a:p>
            <a:pPr>
              <a:defRPr sz="1400" b="1">
                <a:solidFill>
                  <a:srgbClr val="0F172A"/>
                </a:solidFill>
              </a:defRPr>
            </a:pPr>
            <a:r>
              <a:t>National GSM SMS Airwave</a:t>
            </a:r>
            <a:br/>
          </a:p>
          <a:p>
            <a:pPr>
              <a:defRPr sz="1100">
                <a:solidFill>
                  <a:srgbClr val="475569"/>
                </a:solidFill>
              </a:defRPr>
            </a:pPr>
            <a:r>
              <a:t>•  Smart / Globe cellular tower network</a:t>
            </a:r>
          </a:p>
          <a:p>
            <a:pPr>
              <a:defRPr sz="1100">
                <a:solidFill>
                  <a:srgbClr val="475569"/>
                </a:solidFill>
              </a:defRPr>
            </a:pPr>
            <a:r>
              <a:t>•  Operates via basic 2G/3G/4G/5G SMS</a:t>
            </a:r>
          </a:p>
          <a:p>
            <a:pPr>
              <a:defRPr sz="1100">
                <a:solidFill>
                  <a:srgbClr val="475569"/>
                </a:solidFill>
              </a:defRPr>
            </a:pPr>
            <a:r>
              <a:t>•  ZERO mobile data or Wi-Fi required</a:t>
            </a:r>
          </a:p>
          <a:p>
            <a:pPr>
              <a:defRPr sz="1100">
                <a:solidFill>
                  <a:srgbClr val="475569"/>
                </a:solidFill>
              </a:defRPr>
            </a:pPr>
            <a:r>
              <a:t>•  Delivers directly to target SIMs in 2s</a:t>
            </a:r>
          </a:p>
        </p:txBody>
      </p:sp>
      <p:sp>
        <p:nvSpPr>
          <p:cNvPr id="15" name="Right Arrow 14"/>
          <p:cNvSpPr/>
          <p:nvPr/>
        </p:nvSpPr>
        <p:spPr>
          <a:xfrm>
            <a:off x="7726679" y="3474720"/>
            <a:ext cx="548640" cy="320040"/>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12480" y="1828800"/>
            <a:ext cx="29260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0" y="2103120"/>
            <a:ext cx="2377440" cy="45720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defRPr>
            </a:pPr>
            <a:r>
              <a:t>SOLDIER FIELD DEVICE</a:t>
            </a:r>
          </a:p>
        </p:txBody>
      </p:sp>
      <p:sp>
        <p:nvSpPr>
          <p:cNvPr id="18" name="TextBox 17"/>
          <p:cNvSpPr txBox="1"/>
          <p:nvPr/>
        </p:nvSpPr>
        <p:spPr>
          <a:xfrm>
            <a:off x="8595360" y="2743200"/>
            <a:ext cx="2560320" cy="2834640"/>
          </a:xfrm>
          <a:prstGeom prst="rect">
            <a:avLst/>
          </a:prstGeom>
          <a:noFill/>
        </p:spPr>
        <p:txBody>
          <a:bodyPr wrap="square">
            <a:spAutoFit/>
          </a:bodyPr>
          <a:lstStyle/>
          <a:p>
            <a:pPr>
              <a:defRPr sz="1400" b="1">
                <a:solidFill>
                  <a:srgbClr val="0F172A"/>
                </a:solidFill>
              </a:defRPr>
            </a:pPr>
            <a:r>
              <a:t>Native Android Override</a:t>
            </a:r>
            <a:br/>
          </a:p>
          <a:p>
            <a:pPr>
              <a:defRPr sz="1100">
                <a:solidFill>
                  <a:srgbClr val="475569"/>
                </a:solidFill>
              </a:defRPr>
            </a:pPr>
            <a:r>
              <a:t>•  SmsAlertReceiver intercepts text</a:t>
            </a:r>
          </a:p>
          <a:p>
            <a:pPr>
              <a:defRPr sz="1100">
                <a:solidFill>
                  <a:srgbClr val="475569"/>
                </a:solidFill>
              </a:defRPr>
            </a:pPr>
            <a:r>
              <a:t>•  USAGE_ALARM breaks silent/mute</a:t>
            </a:r>
          </a:p>
          <a:p>
            <a:pPr>
              <a:defRPr sz="1100">
                <a:solidFill>
                  <a:srgbClr val="475569"/>
                </a:solidFill>
              </a:defRPr>
            </a:pPr>
            <a:r>
              <a:t>•  Wakes screen with 10RCDG emblem</a:t>
            </a:r>
          </a:p>
          <a:p>
            <a:pPr>
              <a:defRPr sz="1100">
                <a:solidFill>
                  <a:srgbClr val="475569"/>
                </a:solidFill>
              </a:defRPr>
            </a:pPr>
            <a:r>
              <a:t>•  Troop taps 'I Received Order'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457200"/>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CORE CAPABILITIES</a:t>
            </a:r>
          </a:p>
        </p:txBody>
      </p:sp>
      <p:sp>
        <p:nvSpPr>
          <p:cNvPr id="4" name="TextBox 3"/>
          <p:cNvSpPr txBox="1"/>
          <p:nvPr/>
        </p:nvSpPr>
        <p:spPr>
          <a:xfrm>
            <a:off x="914400" y="868680"/>
            <a:ext cx="8686800" cy="594360"/>
          </a:xfrm>
          <a:prstGeom prst="rect">
            <a:avLst/>
          </a:prstGeom>
          <a:noFill/>
        </p:spPr>
        <p:txBody>
          <a:bodyPr wrap="none" lIns="0" tIns="0" rIns="0" bIns="0">
            <a:spAutoFit/>
          </a:bodyPr>
          <a:lstStyle/>
          <a:p>
            <a:pPr>
              <a:defRPr sz="2600" b="1">
                <a:solidFill>
                  <a:srgbClr val="0F172A"/>
                </a:solidFill>
              </a:defRPr>
            </a:pPr>
            <a:r>
              <a:t>The 4 Pillars of the Mobile Engine</a:t>
            </a:r>
          </a:p>
        </p:txBody>
      </p:sp>
      <p:pic>
        <p:nvPicPr>
          <p:cNvPr id="5" name="Picture 4" descr="rescom-emblem.jpg"/>
          <p:cNvPicPr>
            <a:picLocks noChangeAspect="1"/>
          </p:cNvPicPr>
          <p:nvPr/>
        </p:nvPicPr>
        <p:blipFill>
          <a:blip r:embed="rId2"/>
          <a:stretch>
            <a:fillRect/>
          </a:stretch>
        </p:blipFill>
        <p:spPr>
          <a:xfrm>
            <a:off x="10607040" y="457200"/>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04 / 07</a:t>
            </a:r>
          </a:p>
        </p:txBody>
      </p:sp>
      <p:sp>
        <p:nvSpPr>
          <p:cNvPr id="8" name="Rounded Rectangle 7"/>
          <p:cNvSpPr/>
          <p:nvPr/>
        </p:nvSpPr>
        <p:spPr>
          <a:xfrm>
            <a:off x="914400" y="173736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190195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1</a:t>
            </a:r>
          </a:p>
        </p:txBody>
      </p:sp>
      <p:sp>
        <p:nvSpPr>
          <p:cNvPr id="10" name="TextBox 9"/>
          <p:cNvSpPr txBox="1"/>
          <p:nvPr/>
        </p:nvSpPr>
        <p:spPr>
          <a:xfrm>
            <a:off x="1920240" y="1874520"/>
            <a:ext cx="2926080" cy="594360"/>
          </a:xfrm>
          <a:prstGeom prst="rect">
            <a:avLst/>
          </a:prstGeom>
          <a:noFill/>
        </p:spPr>
        <p:txBody>
          <a:bodyPr wrap="none" lIns="0" tIns="0" rIns="0" bIns="0">
            <a:spAutoFit/>
          </a:bodyPr>
          <a:lstStyle/>
          <a:p>
            <a:pPr>
              <a:defRPr sz="1400" b="1">
                <a:solidFill>
                  <a:srgbClr val="0F172A"/>
                </a:solidFill>
              </a:defRPr>
            </a:pPr>
            <a:r>
              <a:t>Hardware Alarm Override</a:t>
            </a:r>
          </a:p>
        </p:txBody>
      </p:sp>
      <p:sp>
        <p:nvSpPr>
          <p:cNvPr id="11" name="TextBox 10"/>
          <p:cNvSpPr txBox="1"/>
          <p:nvPr/>
        </p:nvSpPr>
        <p:spPr>
          <a:xfrm>
            <a:off x="4937760" y="1874520"/>
            <a:ext cx="6126480" cy="594360"/>
          </a:xfrm>
          <a:prstGeom prst="rect">
            <a:avLst/>
          </a:prstGeom>
          <a:noFill/>
        </p:spPr>
        <p:txBody>
          <a:bodyPr wrap="square" lIns="0" tIns="0" rIns="0" bIns="0">
            <a:spAutoFit/>
          </a:bodyPr>
          <a:lstStyle/>
          <a:p>
            <a:pPr>
              <a:defRPr sz="1200">
                <a:solidFill>
                  <a:srgbClr val="475569"/>
                </a:solidFill>
              </a:defRPr>
            </a:pPr>
            <a:r>
              <a:t>Bypasses Silent, Mute, and Do Not Disturb by using privileged Android USAGE_ALARM stream at maximum hardware volume.</a:t>
            </a:r>
          </a:p>
        </p:txBody>
      </p:sp>
      <p:sp>
        <p:nvSpPr>
          <p:cNvPr id="12" name="Rounded Rectangle 11"/>
          <p:cNvSpPr/>
          <p:nvPr/>
        </p:nvSpPr>
        <p:spPr>
          <a:xfrm>
            <a:off x="914400" y="278892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7280" y="295351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2</a:t>
            </a:r>
          </a:p>
        </p:txBody>
      </p:sp>
      <p:sp>
        <p:nvSpPr>
          <p:cNvPr id="14" name="TextBox 13"/>
          <p:cNvSpPr txBox="1"/>
          <p:nvPr/>
        </p:nvSpPr>
        <p:spPr>
          <a:xfrm>
            <a:off x="1920240" y="2926080"/>
            <a:ext cx="2926080" cy="594360"/>
          </a:xfrm>
          <a:prstGeom prst="rect">
            <a:avLst/>
          </a:prstGeom>
          <a:noFill/>
        </p:spPr>
        <p:txBody>
          <a:bodyPr wrap="none" lIns="0" tIns="0" rIns="0" bIns="0">
            <a:spAutoFit/>
          </a:bodyPr>
          <a:lstStyle/>
          <a:p>
            <a:pPr>
              <a:defRPr sz="1400" b="1">
                <a:solidFill>
                  <a:srgbClr val="0F172A"/>
                </a:solidFill>
              </a:defRPr>
            </a:pPr>
            <a:r>
              <a:t>Lockscreen Takeover</a:t>
            </a:r>
          </a:p>
        </p:txBody>
      </p:sp>
      <p:sp>
        <p:nvSpPr>
          <p:cNvPr id="15" name="TextBox 14"/>
          <p:cNvSpPr txBox="1"/>
          <p:nvPr/>
        </p:nvSpPr>
        <p:spPr>
          <a:xfrm>
            <a:off x="4937760" y="2926080"/>
            <a:ext cx="6126480" cy="594360"/>
          </a:xfrm>
          <a:prstGeom prst="rect">
            <a:avLst/>
          </a:prstGeom>
          <a:noFill/>
        </p:spPr>
        <p:txBody>
          <a:bodyPr wrap="square" lIns="0" tIns="0" rIns="0" bIns="0">
            <a:spAutoFit/>
          </a:bodyPr>
          <a:lstStyle/>
          <a:p>
            <a:pPr>
              <a:defRPr sz="1200">
                <a:solidFill>
                  <a:srgbClr val="475569"/>
                </a:solidFill>
              </a:defRPr>
            </a:pPr>
            <a:r>
              <a:t>Forces the phone display ON even while locked, presenting the official 10RCDG emblem and mobilization order.</a:t>
            </a:r>
          </a:p>
        </p:txBody>
      </p:sp>
      <p:sp>
        <p:nvSpPr>
          <p:cNvPr id="16" name="Rounded Rectangle 15"/>
          <p:cNvSpPr/>
          <p:nvPr/>
        </p:nvSpPr>
        <p:spPr>
          <a:xfrm>
            <a:off x="914400" y="384048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97280" y="400507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3</a:t>
            </a:r>
          </a:p>
        </p:txBody>
      </p:sp>
      <p:sp>
        <p:nvSpPr>
          <p:cNvPr id="18" name="TextBox 17"/>
          <p:cNvSpPr txBox="1"/>
          <p:nvPr/>
        </p:nvSpPr>
        <p:spPr>
          <a:xfrm>
            <a:off x="1920240" y="3977640"/>
            <a:ext cx="2926080" cy="594360"/>
          </a:xfrm>
          <a:prstGeom prst="rect">
            <a:avLst/>
          </a:prstGeom>
          <a:noFill/>
        </p:spPr>
        <p:txBody>
          <a:bodyPr wrap="none" lIns="0" tIns="0" rIns="0" bIns="0">
            <a:spAutoFit/>
          </a:bodyPr>
          <a:lstStyle/>
          <a:p>
            <a:pPr>
              <a:defRPr sz="1400" b="1">
                <a:solidFill>
                  <a:srgbClr val="0F172A"/>
                </a:solidFill>
              </a:defRPr>
            </a:pPr>
            <a:r>
              <a:t>100% Offline Capability</a:t>
            </a:r>
          </a:p>
        </p:txBody>
      </p:sp>
      <p:sp>
        <p:nvSpPr>
          <p:cNvPr id="19" name="TextBox 18"/>
          <p:cNvSpPr txBox="1"/>
          <p:nvPr/>
        </p:nvSpPr>
        <p:spPr>
          <a:xfrm>
            <a:off x="4937760" y="3977640"/>
            <a:ext cx="6126480" cy="594360"/>
          </a:xfrm>
          <a:prstGeom prst="rect">
            <a:avLst/>
          </a:prstGeom>
          <a:noFill/>
        </p:spPr>
        <p:txBody>
          <a:bodyPr wrap="square" lIns="0" tIns="0" rIns="0" bIns="0">
            <a:spAutoFit/>
          </a:bodyPr>
          <a:lstStyle/>
          <a:p>
            <a:pPr>
              <a:defRPr sz="1200">
                <a:solidFill>
                  <a:srgbClr val="475569"/>
                </a:solidFill>
              </a:defRPr>
            </a:pPr>
            <a:r>
              <a:t>Triggered over basic GSM text message payload. Does NOT require mobile data, Wi-Fi, or internet connection on the soldier's phone.</a:t>
            </a:r>
          </a:p>
        </p:txBody>
      </p:sp>
      <p:sp>
        <p:nvSpPr>
          <p:cNvPr id="20" name="Rounded Rectangle 19"/>
          <p:cNvSpPr/>
          <p:nvPr/>
        </p:nvSpPr>
        <p:spPr>
          <a:xfrm>
            <a:off x="914400" y="489204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97280" y="505663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4</a:t>
            </a:r>
          </a:p>
        </p:txBody>
      </p:sp>
      <p:sp>
        <p:nvSpPr>
          <p:cNvPr id="22" name="TextBox 21"/>
          <p:cNvSpPr txBox="1"/>
          <p:nvPr/>
        </p:nvSpPr>
        <p:spPr>
          <a:xfrm>
            <a:off x="1920240" y="5029200"/>
            <a:ext cx="2926080" cy="594360"/>
          </a:xfrm>
          <a:prstGeom prst="rect">
            <a:avLst/>
          </a:prstGeom>
          <a:noFill/>
        </p:spPr>
        <p:txBody>
          <a:bodyPr wrap="none" lIns="0" tIns="0" rIns="0" bIns="0">
            <a:spAutoFit/>
          </a:bodyPr>
          <a:lstStyle/>
          <a:p>
            <a:pPr>
              <a:defRPr sz="1400" b="1">
                <a:solidFill>
                  <a:srgbClr val="0F172A"/>
                </a:solidFill>
              </a:defRPr>
            </a:pPr>
            <a:r>
              <a:t>Instant Acknowledgment</a:t>
            </a:r>
          </a:p>
        </p:txBody>
      </p:sp>
      <p:sp>
        <p:nvSpPr>
          <p:cNvPr id="23" name="TextBox 22"/>
          <p:cNvSpPr txBox="1"/>
          <p:nvPr/>
        </p:nvSpPr>
        <p:spPr>
          <a:xfrm>
            <a:off x="4937760" y="5029200"/>
            <a:ext cx="6126480" cy="594360"/>
          </a:xfrm>
          <a:prstGeom prst="rect">
            <a:avLst/>
          </a:prstGeom>
          <a:noFill/>
        </p:spPr>
        <p:txBody>
          <a:bodyPr wrap="square" lIns="0" tIns="0" rIns="0" bIns="0">
            <a:spAutoFit/>
          </a:bodyPr>
          <a:lstStyle/>
          <a:p>
            <a:pPr>
              <a:defRPr sz="1200">
                <a:solidFill>
                  <a:srgbClr val="475569"/>
                </a:solidFill>
              </a:defRPr>
            </a:pPr>
            <a:r>
              <a:t>Soldier taps '✓ I Received This Order' to silence the siren and confirm their mobilization status to Headquarters.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457200"/>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LIVE DEMONSTRATION</a:t>
            </a:r>
          </a:p>
        </p:txBody>
      </p:sp>
      <p:sp>
        <p:nvSpPr>
          <p:cNvPr id="4" name="TextBox 3"/>
          <p:cNvSpPr txBox="1"/>
          <p:nvPr/>
        </p:nvSpPr>
        <p:spPr>
          <a:xfrm>
            <a:off x="914400" y="868680"/>
            <a:ext cx="8686800" cy="594360"/>
          </a:xfrm>
          <a:prstGeom prst="rect">
            <a:avLst/>
          </a:prstGeom>
          <a:noFill/>
        </p:spPr>
        <p:txBody>
          <a:bodyPr wrap="none" lIns="0" tIns="0" rIns="0" bIns="0">
            <a:spAutoFit/>
          </a:bodyPr>
          <a:lstStyle/>
          <a:p>
            <a:pPr>
              <a:defRPr sz="2600" b="1">
                <a:solidFill>
                  <a:srgbClr val="0F172A"/>
                </a:solidFill>
              </a:defRPr>
            </a:pPr>
            <a:r>
              <a:t>Hands-On Test: Web Dispatch to Soldier Siren</a:t>
            </a:r>
          </a:p>
        </p:txBody>
      </p:sp>
      <p:pic>
        <p:nvPicPr>
          <p:cNvPr id="5" name="Picture 4" descr="rescom-emblem.jpg"/>
          <p:cNvPicPr>
            <a:picLocks noChangeAspect="1"/>
          </p:cNvPicPr>
          <p:nvPr/>
        </p:nvPicPr>
        <p:blipFill>
          <a:blip r:embed="rId2"/>
          <a:stretch>
            <a:fillRect/>
          </a:stretch>
        </p:blipFill>
        <p:spPr>
          <a:xfrm>
            <a:off x="10607040" y="457200"/>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05 / 07</a:t>
            </a:r>
          </a:p>
        </p:txBody>
      </p:sp>
      <p:sp>
        <p:nvSpPr>
          <p:cNvPr id="8" name="Rounded Rectangle 7"/>
          <p:cNvSpPr/>
          <p:nvPr/>
        </p:nvSpPr>
        <p:spPr>
          <a:xfrm>
            <a:off x="91440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1</a:t>
            </a:r>
          </a:p>
        </p:txBody>
      </p:sp>
      <p:sp>
        <p:nvSpPr>
          <p:cNvPr id="10" name="TextBox 9"/>
          <p:cNvSpPr txBox="1"/>
          <p:nvPr/>
        </p:nvSpPr>
        <p:spPr>
          <a:xfrm>
            <a:off x="1234440" y="3017520"/>
            <a:ext cx="2560320" cy="2468880"/>
          </a:xfrm>
          <a:prstGeom prst="rect">
            <a:avLst/>
          </a:prstGeom>
          <a:noFill/>
        </p:spPr>
        <p:txBody>
          <a:bodyPr wrap="square">
            <a:spAutoFit/>
          </a:bodyPr>
          <a:lstStyle/>
          <a:p>
            <a:pPr>
              <a:defRPr sz="1500" b="1">
                <a:solidFill>
                  <a:srgbClr val="0F172A"/>
                </a:solidFill>
              </a:defRPr>
            </a:pPr>
            <a:r>
              <a:t>Officer Dispatches Alert</a:t>
            </a:r>
          </a:p>
          <a:p>
            <a:br/>
            <a:pPr>
              <a:defRPr sz="1200">
                <a:solidFill>
                  <a:srgbClr val="475569"/>
                </a:solidFill>
              </a:defRPr>
            </a:pPr>
            <a:r>
              <a:t>Commander selects target unit (e.g. 1001st CDC) on the web portal and clicks 'TRANSMIT EMERGENCY SIREN'.</a:t>
            </a:r>
          </a:p>
        </p:txBody>
      </p:sp>
      <p:sp>
        <p:nvSpPr>
          <p:cNvPr id="11" name="Rounded Rectangle 10"/>
          <p:cNvSpPr/>
          <p:nvPr/>
        </p:nvSpPr>
        <p:spPr>
          <a:xfrm>
            <a:off x="448056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194560"/>
            <a:ext cx="2468880" cy="5486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97706"/>
                </a:solidFill>
              </a:defRPr>
            </a:pPr>
            <a:r>
              <a:t>STEP 2</a:t>
            </a:r>
          </a:p>
        </p:txBody>
      </p:sp>
      <p:sp>
        <p:nvSpPr>
          <p:cNvPr id="13" name="TextBox 12"/>
          <p:cNvSpPr txBox="1"/>
          <p:nvPr/>
        </p:nvSpPr>
        <p:spPr>
          <a:xfrm>
            <a:off x="4800600" y="3017520"/>
            <a:ext cx="2560320" cy="2468880"/>
          </a:xfrm>
          <a:prstGeom prst="rect">
            <a:avLst/>
          </a:prstGeom>
          <a:noFill/>
        </p:spPr>
        <p:txBody>
          <a:bodyPr wrap="square">
            <a:spAutoFit/>
          </a:bodyPr>
          <a:lstStyle/>
          <a:p>
            <a:pPr>
              <a:defRPr sz="1500" b="1">
                <a:solidFill>
                  <a:srgbClr val="0F172A"/>
                </a:solidFill>
              </a:defRPr>
            </a:pPr>
            <a:r>
              <a:t>Phone Lights Up &amp; Sounds Siren</a:t>
            </a:r>
          </a:p>
          <a:p>
            <a:br/>
            <a:pPr>
              <a:defRPr sz="1200">
                <a:solidFill>
                  <a:srgbClr val="475569"/>
                </a:solidFill>
              </a:defRPr>
            </a:pPr>
            <a:r>
              <a:t>The soldier's muted, locked phone immediately turns on, displays the 10RCDG emblem, and sounds a loud tactical siren.</a:t>
            </a:r>
          </a:p>
        </p:txBody>
      </p:sp>
      <p:sp>
        <p:nvSpPr>
          <p:cNvPr id="14" name="Rounded Rectangle 13"/>
          <p:cNvSpPr/>
          <p:nvPr/>
        </p:nvSpPr>
        <p:spPr>
          <a:xfrm>
            <a:off x="804672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3</a:t>
            </a:r>
          </a:p>
        </p:txBody>
      </p:sp>
      <p:sp>
        <p:nvSpPr>
          <p:cNvPr id="16" name="TextBox 15"/>
          <p:cNvSpPr txBox="1"/>
          <p:nvPr/>
        </p:nvSpPr>
        <p:spPr>
          <a:xfrm>
            <a:off x="8366760" y="3017520"/>
            <a:ext cx="2560320" cy="2468880"/>
          </a:xfrm>
          <a:prstGeom prst="rect">
            <a:avLst/>
          </a:prstGeom>
          <a:noFill/>
        </p:spPr>
        <p:txBody>
          <a:bodyPr wrap="square">
            <a:spAutoFit/>
          </a:bodyPr>
          <a:lstStyle/>
          <a:p>
            <a:pPr>
              <a:defRPr sz="1500" b="1">
                <a:solidFill>
                  <a:srgbClr val="0F172A"/>
                </a:solidFill>
              </a:defRPr>
            </a:pPr>
            <a:r>
              <a:t>Troop Acknowledges Order</a:t>
            </a:r>
          </a:p>
          <a:p>
            <a:br/>
            <a:pPr>
              <a:defRPr sz="1200">
                <a:solidFill>
                  <a:srgbClr val="475569"/>
                </a:solidFill>
              </a:defRPr>
            </a:pPr>
            <a:r>
              <a:t>Soldier taps '✓ I RECEIVED THIS ORDER'. The alarm silences and compliance is recorded for headquarters.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457200"/>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STRATEGIC REQUIREMENT</a:t>
            </a:r>
          </a:p>
        </p:txBody>
      </p:sp>
      <p:sp>
        <p:nvSpPr>
          <p:cNvPr id="4" name="TextBox 3"/>
          <p:cNvSpPr txBox="1"/>
          <p:nvPr/>
        </p:nvSpPr>
        <p:spPr>
          <a:xfrm>
            <a:off x="914400" y="868680"/>
            <a:ext cx="8686800" cy="594360"/>
          </a:xfrm>
          <a:prstGeom prst="rect">
            <a:avLst/>
          </a:prstGeom>
          <a:noFill/>
        </p:spPr>
        <p:txBody>
          <a:bodyPr wrap="none" lIns="0" tIns="0" rIns="0" bIns="0">
            <a:spAutoFit/>
          </a:bodyPr>
          <a:lstStyle/>
          <a:p>
            <a:pPr>
              <a:defRPr sz="2600" b="1">
                <a:solidFill>
                  <a:srgbClr val="0F172A"/>
                </a:solidFill>
              </a:defRPr>
            </a:pPr>
            <a:r>
              <a:t>The Goal: Securing an Official Alphanumeric SENDER ID</a:t>
            </a:r>
          </a:p>
        </p:txBody>
      </p:sp>
      <p:pic>
        <p:nvPicPr>
          <p:cNvPr id="5" name="Picture 4" descr="rescom-emblem.jpg"/>
          <p:cNvPicPr>
            <a:picLocks noChangeAspect="1"/>
          </p:cNvPicPr>
          <p:nvPr/>
        </p:nvPicPr>
        <p:blipFill>
          <a:blip r:embed="rId2"/>
          <a:stretch>
            <a:fillRect/>
          </a:stretch>
        </p:blipFill>
        <p:spPr>
          <a:xfrm>
            <a:off x="10607040" y="457200"/>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06 / 07</a:t>
            </a:r>
          </a:p>
        </p:txBody>
      </p:sp>
      <p:sp>
        <p:nvSpPr>
          <p:cNvPr id="8" name="Rounded Rectangle 7"/>
          <p:cNvSpPr/>
          <p:nvPr/>
        </p:nvSpPr>
        <p:spPr>
          <a:xfrm>
            <a:off x="914400"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03120"/>
            <a:ext cx="4251960" cy="5486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C2626"/>
                </a:solidFill>
              </a:defRPr>
            </a:pPr>
            <a:r>
              <a:t>CURRENT PROTOTYPE (SIM Gateway)</a:t>
            </a:r>
          </a:p>
        </p:txBody>
      </p:sp>
      <p:sp>
        <p:nvSpPr>
          <p:cNvPr id="10" name="TextBox 9"/>
          <p:cNvSpPr txBox="1"/>
          <p:nvPr/>
        </p:nvSpPr>
        <p:spPr>
          <a:xfrm>
            <a:off x="1280160" y="2834640"/>
            <a:ext cx="4251960" cy="2651760"/>
          </a:xfrm>
          <a:prstGeom prst="rect">
            <a:avLst/>
          </a:prstGeom>
          <a:noFill/>
        </p:spPr>
        <p:txBody>
          <a:bodyPr wrap="square">
            <a:spAutoFit/>
          </a:bodyPr>
          <a:lstStyle/>
          <a:p>
            <a:pPr>
              <a:defRPr sz="1200">
                <a:solidFill>
                  <a:srgbClr val="DC2626"/>
                </a:solidFill>
              </a:defRPr>
            </a:pPr>
            <a:r>
              <a:t>✗  Sent from an ordinary 11-digit number (0917-xxx-xxxx)</a:t>
            </a:r>
            <a:br/>
          </a:p>
          <a:p>
            <a:pPr>
              <a:defRPr sz="1200">
                <a:solidFill>
                  <a:srgbClr val="DC2626"/>
                </a:solidFill>
              </a:defRPr>
            </a:pPr>
            <a:r>
              <a:t>✗  Telco firewalls block all web links (.com, .app) due to NTC anti-smishing laws</a:t>
            </a:r>
            <a:br/>
          </a:p>
          <a:p>
            <a:pPr>
              <a:defRPr sz="1200">
                <a:solidFill>
                  <a:srgbClr val="DC2626"/>
                </a:solidFill>
              </a:defRPr>
            </a:pPr>
            <a:r>
              <a:t>✗  Slow speed: limited to 10–15 SMS per minute on SIM cards</a:t>
            </a:r>
            <a:br/>
          </a:p>
        </p:txBody>
      </p:sp>
      <p:sp>
        <p:nvSpPr>
          <p:cNvPr id="11" name="Rounded Rectangle 10"/>
          <p:cNvSpPr/>
          <p:nvPr/>
        </p:nvSpPr>
        <p:spPr>
          <a:xfrm>
            <a:off x="6291072"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56832" y="2103120"/>
            <a:ext cx="425196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WITH OFFICIAL SENDER ID ('10RCDG')</a:t>
            </a:r>
          </a:p>
        </p:txBody>
      </p:sp>
      <p:sp>
        <p:nvSpPr>
          <p:cNvPr id="13" name="TextBox 12"/>
          <p:cNvSpPr txBox="1"/>
          <p:nvPr/>
        </p:nvSpPr>
        <p:spPr>
          <a:xfrm>
            <a:off x="6656832" y="2834640"/>
            <a:ext cx="4251960" cy="2651760"/>
          </a:xfrm>
          <a:prstGeom prst="rect">
            <a:avLst/>
          </a:prstGeom>
          <a:noFill/>
        </p:spPr>
        <p:txBody>
          <a:bodyPr wrap="square">
            <a:spAutoFit/>
          </a:bodyPr>
          <a:lstStyle/>
          <a:p>
            <a:pPr>
              <a:defRPr sz="1200">
                <a:solidFill>
                  <a:srgbClr val="0F172A"/>
                </a:solidFill>
              </a:defRPr>
            </a:pPr>
            <a:r>
              <a:t>✓  Displays official military sender name: '10RCDG' or 'RESCOM-PA'</a:t>
            </a:r>
            <a:br/>
          </a:p>
          <a:p>
            <a:pPr>
              <a:defRPr sz="1200">
                <a:solidFill>
                  <a:srgbClr val="0F172A"/>
                </a:solidFill>
              </a:defRPr>
            </a:pPr>
            <a:r>
              <a:t>✓  100% Whitelisted by Globe &amp; Smart: Zero spam blocking, allows official download links</a:t>
            </a:r>
            <a:br/>
          </a:p>
          <a:p>
            <a:pPr>
              <a:defRPr sz="1200">
                <a:solidFill>
                  <a:srgbClr val="0F172A"/>
                </a:solidFill>
              </a:defRPr>
            </a:pPr>
            <a:r>
              <a:t>✓  High-speed broadcast: Dispatches 100+ SMS per second to thousands of troops instantly</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484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2"/>
          <a:stretch>
            <a:fillRect/>
          </a:stretch>
        </p:blipFill>
        <p:spPr>
          <a:xfrm>
            <a:off x="5486400" y="1188720"/>
            <a:ext cx="1188720" cy="1188720"/>
          </a:xfrm>
          <a:prstGeom prst="rect">
            <a:avLst/>
          </a:prstGeom>
        </p:spPr>
      </p:pic>
      <p:sp>
        <p:nvSpPr>
          <p:cNvPr id="5" name="TextBox 4"/>
          <p:cNvSpPr txBox="1"/>
          <p:nvPr/>
        </p:nvSpPr>
        <p:spPr>
          <a:xfrm>
            <a:off x="1828800" y="2560320"/>
            <a:ext cx="8534095" cy="1828800"/>
          </a:xfrm>
          <a:prstGeom prst="rect">
            <a:avLst/>
          </a:prstGeom>
          <a:noFill/>
        </p:spPr>
        <p:txBody>
          <a:bodyPr wrap="square">
            <a:spAutoFit/>
          </a:bodyPr>
          <a:lstStyle/>
          <a:p>
            <a:pPr algn="ctr">
              <a:defRPr sz="2800" b="1">
                <a:solidFill>
                  <a:srgbClr val="0F172A"/>
                </a:solidFill>
              </a:defRPr>
            </a:pPr>
            <a:r>
              <a:t>“When Every Second Counts, Silence is Not an Option.”</a:t>
            </a:r>
          </a:p>
          <a:p>
            <a:br/>
            <a:pPr algn="ctr">
              <a:defRPr sz="1600">
                <a:solidFill>
                  <a:srgbClr val="047857"/>
                </a:solidFill>
              </a:defRPr>
            </a:pPr>
            <a:r>
              <a:t>The software is ready. We respectfully request command endorsement</a:t>
            </a:r>
            <a:br/>
            <a:r>
              <a:t>and budget allocation for the official 10RCDG SENDER ID.</a:t>
            </a:r>
          </a:p>
          <a:p>
            <a:br/>
            <a:pPr algn="ctr">
              <a:defRPr sz="1400" b="1">
                <a:solidFill>
                  <a:srgbClr val="94A3B8"/>
                </a:solidFill>
              </a:defRPr>
            </a:pPr>
            <a:r>
              <a:t>Floor is open for Questions &amp; Live Testing.</a:t>
            </a:r>
          </a:p>
        </p:txBody>
      </p:sp>
      <p:sp>
        <p:nvSpPr>
          <p:cNvPr id="6" name="TextBox 5"/>
          <p:cNvSpPr txBox="1"/>
          <p:nvPr/>
        </p:nvSpPr>
        <p:spPr>
          <a:xfrm>
            <a:off x="1828800" y="4846320"/>
            <a:ext cx="8534095" cy="731520"/>
          </a:xfrm>
          <a:prstGeom prst="rect">
            <a:avLst/>
          </a:prstGeom>
          <a:noFill/>
        </p:spPr>
        <p:txBody>
          <a:bodyPr wrap="none">
            <a:spAutoFit/>
          </a:bodyPr>
          <a:lstStyle/>
          <a:p>
            <a:pPr algn="ctr">
              <a:defRPr sz="1200" b="1">
                <a:solidFill>
                  <a:srgbClr val="0F172A"/>
                </a:solidFill>
              </a:defRPr>
            </a:pPr>
            <a:r>
              <a:t>Javier Siliacay (aka vier from USTP Autotronics)  •  Lead Developer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