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Good day, Colonel, and members of the 10RCDG Command Staff.</a:t>
            </a:r>
          </a:p>
          <a:p>
            <a:r>
              <a:t>Today I am presenting RESCOM-ALERT — a purpose-built tactical technology designed to solve one critical problem: ensuring emergency mobilization orders wake up and alert our reservists, even when their phones are locked, muted, or offline.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scom-slide-bg.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1371600" y="777240"/>
            <a:ext cx="9448495" cy="53035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scom-emblem.jpg"/>
          <p:cNvPicPr>
            <a:picLocks noChangeAspect="1"/>
          </p:cNvPicPr>
          <p:nvPr/>
        </p:nvPicPr>
        <p:blipFill>
          <a:blip r:embed="rId3"/>
          <a:stretch>
            <a:fillRect/>
          </a:stretch>
        </p:blipFill>
        <p:spPr>
          <a:xfrm>
            <a:off x="5029200" y="1051560"/>
            <a:ext cx="960120" cy="960120"/>
          </a:xfrm>
          <a:prstGeom prst="rect">
            <a:avLst/>
          </a:prstGeom>
        </p:spPr>
      </p:pic>
      <p:pic>
        <p:nvPicPr>
          <p:cNvPr id="5" name="Picture 4" descr="rescom-pa-seal.png"/>
          <p:cNvPicPr>
            <a:picLocks noChangeAspect="1"/>
          </p:cNvPicPr>
          <p:nvPr/>
        </p:nvPicPr>
        <p:blipFill>
          <a:blip r:embed="rId4"/>
          <a:stretch>
            <a:fillRect/>
          </a:stretch>
        </p:blipFill>
        <p:spPr>
          <a:xfrm>
            <a:off x="6217920" y="1051560"/>
            <a:ext cx="960120" cy="960120"/>
          </a:xfrm>
          <a:prstGeom prst="rect">
            <a:avLst/>
          </a:prstGeom>
        </p:spPr>
      </p:pic>
      <p:sp>
        <p:nvSpPr>
          <p:cNvPr id="6" name="Rounded Rectangle 5"/>
          <p:cNvSpPr/>
          <p:nvPr/>
        </p:nvSpPr>
        <p:spPr>
          <a:xfrm>
            <a:off x="3931920" y="2148840"/>
            <a:ext cx="429768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47857"/>
                </a:solidFill>
              </a:defRPr>
            </a:pPr>
            <a:r>
              <a:t>PHILIPPINE ARMY RESERVE COMMAND</a:t>
            </a:r>
          </a:p>
        </p:txBody>
      </p:sp>
      <p:sp>
        <p:nvSpPr>
          <p:cNvPr id="7" name="TextBox 6"/>
          <p:cNvSpPr txBox="1"/>
          <p:nvPr/>
        </p:nvSpPr>
        <p:spPr>
          <a:xfrm>
            <a:off x="1828800" y="2606040"/>
            <a:ext cx="8534095" cy="1463040"/>
          </a:xfrm>
          <a:prstGeom prst="rect">
            <a:avLst/>
          </a:prstGeom>
          <a:noFill/>
        </p:spPr>
        <p:txBody>
          <a:bodyPr wrap="square">
            <a:spAutoFit/>
          </a:bodyPr>
          <a:lstStyle/>
          <a:p>
            <a:pPr algn="ctr">
              <a:defRPr sz="4000" b="1">
                <a:solidFill>
                  <a:srgbClr val="065F46"/>
                </a:solidFill>
              </a:defRPr>
            </a:pPr>
            <a:r>
              <a:t>10RCDG RESCOM ALERT</a:t>
            </a:r>
          </a:p>
          <a:p>
            <a:pPr algn="ctr">
              <a:defRPr sz="1600">
                <a:solidFill>
                  <a:srgbClr val="475569"/>
                </a:solidFill>
              </a:defRPr>
            </a:pPr>
            <a:r>
              <a:t>Tactical Mass Emergency Siren &amp; Rapid Mobilization Notification Architecture</a:t>
            </a:r>
          </a:p>
          <a:p>
            <a:pPr algn="ctr">
              <a:defRPr sz="1200">
                <a:solidFill>
                  <a:srgbClr val="94A3B8"/>
                </a:solidFill>
              </a:defRPr>
            </a:pPr>
            <a:r>
              <a:t>10th Regional Community Defense Group  •  Camp General Manuel T Yan Sr, Mawab</a:t>
            </a:r>
          </a:p>
        </p:txBody>
      </p:sp>
      <p:sp>
        <p:nvSpPr>
          <p:cNvPr id="8" name="Rounded Rectangle 7"/>
          <p:cNvSpPr/>
          <p:nvPr/>
        </p:nvSpPr>
        <p:spPr>
          <a:xfrm>
            <a:off x="2011680" y="4297680"/>
            <a:ext cx="2651760" cy="59436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65F46"/>
                </a:solidFill>
              </a:defRPr>
            </a:pPr>
            <a:r>
              <a:t>Fast Group SMS</a:t>
            </a:r>
          </a:p>
          <a:p>
            <a:pPr algn="ctr">
              <a:defRPr sz="950">
                <a:solidFill>
                  <a:srgbClr val="475569"/>
                </a:solidFill>
              </a:defRPr>
            </a:pPr>
            <a:r>
              <a:t>Offline GSM Payload</a:t>
            </a:r>
          </a:p>
        </p:txBody>
      </p:sp>
      <p:sp>
        <p:nvSpPr>
          <p:cNvPr id="9" name="Rounded Rectangle 8"/>
          <p:cNvSpPr/>
          <p:nvPr/>
        </p:nvSpPr>
        <p:spPr>
          <a:xfrm>
            <a:off x="4754880" y="4297680"/>
            <a:ext cx="2651760" cy="594360"/>
          </a:xfrm>
          <a:prstGeom prst="roundRect">
            <a:avLst/>
          </a:prstGeom>
          <a:solidFill>
            <a:srgbClr val="FFFBEB"/>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7706"/>
                </a:solidFill>
              </a:defRPr>
            </a:pPr>
            <a:r>
              <a:t>Hardware Siren Override</a:t>
            </a:r>
          </a:p>
          <a:p>
            <a:pPr algn="ctr">
              <a:defRPr sz="950">
                <a:solidFill>
                  <a:srgbClr val="475569"/>
                </a:solidFill>
              </a:defRPr>
            </a:pPr>
            <a:r>
              <a:t>Bypasses Silent / Mute</a:t>
            </a:r>
          </a:p>
        </p:txBody>
      </p:sp>
      <p:sp>
        <p:nvSpPr>
          <p:cNvPr id="10" name="Rounded Rectangle 9"/>
          <p:cNvSpPr/>
          <p:nvPr/>
        </p:nvSpPr>
        <p:spPr>
          <a:xfrm>
            <a:off x="7498079" y="4297680"/>
            <a:ext cx="265176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D4ED8"/>
                </a:solidFill>
              </a:defRPr>
            </a:pPr>
            <a:r>
              <a:t>Instant Headcount</a:t>
            </a:r>
          </a:p>
          <a:p>
            <a:pPr algn="ctr">
              <a:defRPr sz="950">
                <a:solidFill>
                  <a:srgbClr val="475569"/>
                </a:solidFill>
              </a:defRPr>
            </a:pPr>
            <a:r>
              <a:t>Real-Time Telemetry</a:t>
            </a:r>
          </a:p>
        </p:txBody>
      </p:sp>
      <p:sp>
        <p:nvSpPr>
          <p:cNvPr id="11" name="TextBox 10"/>
          <p:cNvSpPr txBox="1"/>
          <p:nvPr/>
        </p:nvSpPr>
        <p:spPr>
          <a:xfrm>
            <a:off x="1828800" y="5029200"/>
            <a:ext cx="8534095" cy="822960"/>
          </a:xfrm>
          <a:prstGeom prst="rect">
            <a:avLst/>
          </a:prstGeom>
          <a:noFill/>
        </p:spPr>
        <p:txBody>
          <a:bodyPr wrap="none">
            <a:spAutoFit/>
          </a:bodyPr>
          <a:lstStyle/>
          <a:p>
            <a:pPr algn="ctr">
              <a:defRPr sz="1200" b="1">
                <a:solidFill>
                  <a:srgbClr val="0F172A"/>
                </a:solidFill>
              </a:defRPr>
            </a:pPr>
            <a:r>
              <a:t>Presented by: Javier Siliacay (aka vier from USTP Autotronics)</a:t>
            </a:r>
          </a:p>
          <a:p>
            <a:pPr algn="ctr">
              <a:defRPr sz="1050">
                <a:solidFill>
                  <a:srgbClr val="94A3B8"/>
                </a:solidFill>
              </a:defRPr>
            </a:pPr>
            <a:r>
              <a:t>Technical Briefing &amp; Command Defense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384048"/>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THE PROBLEM</a:t>
            </a:r>
          </a:p>
        </p:txBody>
      </p:sp>
      <p:sp>
        <p:nvSpPr>
          <p:cNvPr id="4" name="TextBox 3"/>
          <p:cNvSpPr txBox="1"/>
          <p:nvPr/>
        </p:nvSpPr>
        <p:spPr>
          <a:xfrm>
            <a:off x="914400" y="777240"/>
            <a:ext cx="8686800" cy="594360"/>
          </a:xfrm>
          <a:prstGeom prst="rect">
            <a:avLst/>
          </a:prstGeom>
          <a:noFill/>
        </p:spPr>
        <p:txBody>
          <a:bodyPr wrap="none" lIns="0" tIns="0" rIns="0" bIns="0">
            <a:spAutoFit/>
          </a:bodyPr>
          <a:lstStyle/>
          <a:p>
            <a:pPr>
              <a:defRPr sz="2500" b="1">
                <a:solidFill>
                  <a:srgbClr val="0F172A"/>
                </a:solidFill>
              </a:defRPr>
            </a:pPr>
            <a:r>
              <a:t>Why Conventional Messaging Fails in Emergencies</a:t>
            </a:r>
          </a:p>
        </p:txBody>
      </p:sp>
      <p:pic>
        <p:nvPicPr>
          <p:cNvPr id="5" name="Picture 4" descr="rescom-emblem.jpg"/>
          <p:cNvPicPr>
            <a:picLocks noChangeAspect="1"/>
          </p:cNvPicPr>
          <p:nvPr/>
        </p:nvPicPr>
        <p:blipFill>
          <a:blip r:embed="rId2"/>
          <a:stretch>
            <a:fillRect/>
          </a:stretch>
        </p:blipFill>
        <p:spPr>
          <a:xfrm>
            <a:off x="10607040" y="384048"/>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02 / 07</a:t>
            </a:r>
          </a:p>
        </p:txBody>
      </p:sp>
      <p:sp>
        <p:nvSpPr>
          <p:cNvPr id="8" name="Rounded Rectangle 7"/>
          <p:cNvSpPr/>
          <p:nvPr/>
        </p:nvSpPr>
        <p:spPr>
          <a:xfrm>
            <a:off x="914400" y="1737360"/>
            <a:ext cx="320040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80160" y="2103120"/>
            <a:ext cx="2468880" cy="73152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DC2626"/>
                </a:solidFill>
              </a:defRPr>
            </a:pPr>
            <a:r>
              <a:t>74% SILENT</a:t>
            </a:r>
          </a:p>
        </p:txBody>
      </p:sp>
      <p:sp>
        <p:nvSpPr>
          <p:cNvPr id="10" name="TextBox 9"/>
          <p:cNvSpPr txBox="1"/>
          <p:nvPr/>
        </p:nvSpPr>
        <p:spPr>
          <a:xfrm>
            <a:off x="1234440" y="3108960"/>
            <a:ext cx="2560320" cy="2377440"/>
          </a:xfrm>
          <a:prstGeom prst="rect">
            <a:avLst/>
          </a:prstGeom>
          <a:noFill/>
        </p:spPr>
        <p:txBody>
          <a:bodyPr wrap="square">
            <a:spAutoFit/>
          </a:bodyPr>
          <a:lstStyle/>
          <a:p>
            <a:pPr>
              <a:defRPr sz="1500" b="1">
                <a:solidFill>
                  <a:srgbClr val="0F172A"/>
                </a:solidFill>
              </a:defRPr>
            </a:pPr>
            <a:r>
              <a:t>Phones on Mute &amp; DND</a:t>
            </a:r>
          </a:p>
          <a:p>
            <a:br/>
            <a:pPr>
              <a:defRPr sz="1200">
                <a:solidFill>
                  <a:srgbClr val="475569"/>
                </a:solidFill>
              </a:defRPr>
            </a:pPr>
            <a:r>
              <a:t>Troops sleep through or miss standard SMS dings and chat notifications during Red Alerts.</a:t>
            </a:r>
          </a:p>
        </p:txBody>
      </p:sp>
      <p:sp>
        <p:nvSpPr>
          <p:cNvPr id="11" name="Rounded Rectangle 10"/>
          <p:cNvSpPr/>
          <p:nvPr/>
        </p:nvSpPr>
        <p:spPr>
          <a:xfrm>
            <a:off x="4480560" y="1737360"/>
            <a:ext cx="320040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846320" y="2103120"/>
            <a:ext cx="2468880" cy="73152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D97706"/>
                </a:solidFill>
              </a:defRPr>
            </a:pPr>
            <a:r>
              <a:t>NO DATA</a:t>
            </a:r>
          </a:p>
        </p:txBody>
      </p:sp>
      <p:sp>
        <p:nvSpPr>
          <p:cNvPr id="13" name="TextBox 12"/>
          <p:cNvSpPr txBox="1"/>
          <p:nvPr/>
        </p:nvSpPr>
        <p:spPr>
          <a:xfrm>
            <a:off x="4800600" y="3108960"/>
            <a:ext cx="2560320" cy="2377440"/>
          </a:xfrm>
          <a:prstGeom prst="rect">
            <a:avLst/>
          </a:prstGeom>
          <a:noFill/>
        </p:spPr>
        <p:txBody>
          <a:bodyPr wrap="square">
            <a:spAutoFit/>
          </a:bodyPr>
          <a:lstStyle/>
          <a:p>
            <a:pPr>
              <a:defRPr sz="1500" b="1">
                <a:solidFill>
                  <a:srgbClr val="0F172A"/>
                </a:solidFill>
              </a:defRPr>
            </a:pPr>
            <a:r>
              <a:t>Chat Apps Fail in Storms</a:t>
            </a:r>
          </a:p>
          <a:p>
            <a:br/>
            <a:pPr>
              <a:defRPr sz="1200">
                <a:solidFill>
                  <a:srgbClr val="475569"/>
                </a:solidFill>
              </a:defRPr>
            </a:pPr>
            <a:r>
              <a:t>Messenger and Viber require active internet. When cell towers lose data, chat groups fail.</a:t>
            </a:r>
          </a:p>
        </p:txBody>
      </p:sp>
      <p:sp>
        <p:nvSpPr>
          <p:cNvPr id="14" name="Rounded Rectangle 13"/>
          <p:cNvSpPr/>
          <p:nvPr/>
        </p:nvSpPr>
        <p:spPr>
          <a:xfrm>
            <a:off x="8046720" y="1737360"/>
            <a:ext cx="320040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12480" y="2103120"/>
            <a:ext cx="2468880" cy="731520"/>
          </a:xfrm>
          <a:prstGeom prst="round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0F172A"/>
                </a:solidFill>
              </a:defRPr>
            </a:pPr>
            <a:r>
              <a:t>NO HEADCOUNT</a:t>
            </a:r>
          </a:p>
        </p:txBody>
      </p:sp>
      <p:sp>
        <p:nvSpPr>
          <p:cNvPr id="16" name="TextBox 15"/>
          <p:cNvSpPr txBox="1"/>
          <p:nvPr/>
        </p:nvSpPr>
        <p:spPr>
          <a:xfrm>
            <a:off x="8366760" y="3108960"/>
            <a:ext cx="2560320" cy="2377440"/>
          </a:xfrm>
          <a:prstGeom prst="rect">
            <a:avLst/>
          </a:prstGeom>
          <a:noFill/>
        </p:spPr>
        <p:txBody>
          <a:bodyPr wrap="square">
            <a:spAutoFit/>
          </a:bodyPr>
          <a:lstStyle/>
          <a:p>
            <a:pPr>
              <a:defRPr sz="1500" b="1">
                <a:solidFill>
                  <a:srgbClr val="0F172A"/>
                </a:solidFill>
              </a:defRPr>
            </a:pPr>
            <a:r>
              <a:t>Zero Acknowledgment</a:t>
            </a:r>
          </a:p>
          <a:p>
            <a:br/>
            <a:pPr>
              <a:defRPr sz="1200">
                <a:solidFill>
                  <a:srgbClr val="475569"/>
                </a:solidFill>
              </a:defRPr>
            </a:pPr>
            <a:r>
              <a:t>Commanders have no way to verify who received the order and who is actively en route.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384048"/>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SYSTEM ARCHITECTURE</a:t>
            </a:r>
          </a:p>
        </p:txBody>
      </p:sp>
      <p:sp>
        <p:nvSpPr>
          <p:cNvPr id="4" name="TextBox 3"/>
          <p:cNvSpPr txBox="1"/>
          <p:nvPr/>
        </p:nvSpPr>
        <p:spPr>
          <a:xfrm>
            <a:off x="914400" y="777240"/>
            <a:ext cx="8686800" cy="594360"/>
          </a:xfrm>
          <a:prstGeom prst="rect">
            <a:avLst/>
          </a:prstGeom>
          <a:noFill/>
        </p:spPr>
        <p:txBody>
          <a:bodyPr wrap="none" lIns="0" tIns="0" rIns="0" bIns="0">
            <a:spAutoFit/>
          </a:bodyPr>
          <a:lstStyle/>
          <a:p>
            <a:pPr>
              <a:defRPr sz="2500" b="1">
                <a:solidFill>
                  <a:srgbClr val="0F172A"/>
                </a:solidFill>
              </a:defRPr>
            </a:pPr>
            <a:r>
              <a:t>System Design: Signal Flow &amp; Hardware Override</a:t>
            </a:r>
          </a:p>
        </p:txBody>
      </p:sp>
      <p:pic>
        <p:nvPicPr>
          <p:cNvPr id="5" name="Picture 4" descr="rescom-emblem.jpg"/>
          <p:cNvPicPr>
            <a:picLocks noChangeAspect="1"/>
          </p:cNvPicPr>
          <p:nvPr/>
        </p:nvPicPr>
        <p:blipFill>
          <a:blip r:embed="rId2"/>
          <a:stretch>
            <a:fillRect/>
          </a:stretch>
        </p:blipFill>
        <p:spPr>
          <a:xfrm>
            <a:off x="10607040" y="384048"/>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03 / 07</a:t>
            </a:r>
          </a:p>
        </p:txBody>
      </p:sp>
      <p:sp>
        <p:nvSpPr>
          <p:cNvPr id="8" name="Rounded Rectangle 7"/>
          <p:cNvSpPr/>
          <p:nvPr/>
        </p:nvSpPr>
        <p:spPr>
          <a:xfrm>
            <a:off x="914400" y="1645920"/>
            <a:ext cx="2194560" cy="2468880"/>
          </a:xfrm>
          <a:prstGeom prst="roundRect">
            <a:avLst/>
          </a:prstGeom>
          <a:solidFill>
            <a:srgbClr val="FFFFFF"/>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on_web.png"/>
          <p:cNvPicPr>
            <a:picLocks noChangeAspect="1"/>
          </p:cNvPicPr>
          <p:nvPr/>
        </p:nvPicPr>
        <p:blipFill>
          <a:blip r:embed="rId3"/>
          <a:stretch>
            <a:fillRect/>
          </a:stretch>
        </p:blipFill>
        <p:spPr>
          <a:xfrm>
            <a:off x="1645920" y="1810512"/>
            <a:ext cx="731520" cy="731520"/>
          </a:xfrm>
          <a:prstGeom prst="rect">
            <a:avLst/>
          </a:prstGeom>
        </p:spPr>
      </p:pic>
      <p:sp>
        <p:nvSpPr>
          <p:cNvPr id="10" name="TextBox 9"/>
          <p:cNvSpPr txBox="1"/>
          <p:nvPr/>
        </p:nvSpPr>
        <p:spPr>
          <a:xfrm>
            <a:off x="1005840" y="2578608"/>
            <a:ext cx="2011680" cy="457200"/>
          </a:xfrm>
          <a:prstGeom prst="rect">
            <a:avLst/>
          </a:prstGeom>
          <a:noFill/>
        </p:spPr>
        <p:txBody>
          <a:bodyPr wrap="none" lIns="0" tIns="0" rIns="0" bIns="0">
            <a:spAutoFit/>
          </a:bodyPr>
          <a:lstStyle/>
          <a:p>
            <a:pPr algn="ctr">
              <a:defRPr sz="1100" b="1">
                <a:solidFill>
                  <a:srgbClr val="065F46"/>
                </a:solidFill>
              </a:defRPr>
            </a:pPr>
            <a:r>
              <a:t>01. DISPATCH</a:t>
            </a:r>
          </a:p>
          <a:p>
            <a:pPr algn="ctr">
              <a:defRPr sz="1050" b="1">
                <a:solidFill>
                  <a:srgbClr val="0F172A"/>
                </a:solidFill>
              </a:defRPr>
            </a:pPr>
            <a:r>
              <a:t>Command Web Portal</a:t>
            </a:r>
          </a:p>
        </p:txBody>
      </p:sp>
      <p:sp>
        <p:nvSpPr>
          <p:cNvPr id="11" name="TextBox 10"/>
          <p:cNvSpPr txBox="1"/>
          <p:nvPr/>
        </p:nvSpPr>
        <p:spPr>
          <a:xfrm>
            <a:off x="1078992" y="3108960"/>
            <a:ext cx="1865376" cy="914400"/>
          </a:xfrm>
          <a:prstGeom prst="rect">
            <a:avLst/>
          </a:prstGeom>
          <a:noFill/>
        </p:spPr>
        <p:txBody>
          <a:bodyPr wrap="square" lIns="0" tIns="0" rIns="0" bIns="0">
            <a:spAutoFit/>
          </a:bodyPr>
          <a:lstStyle/>
          <a:p>
            <a:pPr>
              <a:defRPr sz="900">
                <a:solidFill>
                  <a:srgbClr val="475569"/>
                </a:solidFill>
              </a:defRPr>
            </a:pPr>
            <a:r>
              <a:t>• Officer initiates alert</a:t>
            </a:r>
          </a:p>
          <a:p>
            <a:pPr>
              <a:defRPr sz="900">
                <a:solidFill>
                  <a:srgbClr val="475569"/>
                </a:solidFill>
              </a:defRPr>
            </a:pPr>
            <a:r>
              <a:t>• Targets CDC battalions</a:t>
            </a:r>
          </a:p>
          <a:p>
            <a:pPr>
              <a:defRPr sz="900">
                <a:solidFill>
                  <a:srgbClr val="475569"/>
                </a:solidFill>
              </a:defRPr>
            </a:pPr>
            <a:r>
              <a:t>• Fires Siren Command</a:t>
            </a:r>
          </a:p>
        </p:txBody>
      </p:sp>
      <p:sp>
        <p:nvSpPr>
          <p:cNvPr id="12" name="Rounded Rectangle 11"/>
          <p:cNvSpPr/>
          <p:nvPr/>
        </p:nvSpPr>
        <p:spPr>
          <a:xfrm>
            <a:off x="3657600" y="1645920"/>
            <a:ext cx="2194560" cy="24688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on_tower.png"/>
          <p:cNvPicPr>
            <a:picLocks noChangeAspect="1"/>
          </p:cNvPicPr>
          <p:nvPr/>
        </p:nvPicPr>
        <p:blipFill>
          <a:blip r:embed="rId4"/>
          <a:stretch>
            <a:fillRect/>
          </a:stretch>
        </p:blipFill>
        <p:spPr>
          <a:xfrm>
            <a:off x="4389120" y="1810512"/>
            <a:ext cx="731520" cy="731520"/>
          </a:xfrm>
          <a:prstGeom prst="rect">
            <a:avLst/>
          </a:prstGeom>
        </p:spPr>
      </p:pic>
      <p:sp>
        <p:nvSpPr>
          <p:cNvPr id="14" name="TextBox 13"/>
          <p:cNvSpPr txBox="1"/>
          <p:nvPr/>
        </p:nvSpPr>
        <p:spPr>
          <a:xfrm>
            <a:off x="3749040" y="2578608"/>
            <a:ext cx="2011680" cy="457200"/>
          </a:xfrm>
          <a:prstGeom prst="rect">
            <a:avLst/>
          </a:prstGeom>
          <a:noFill/>
        </p:spPr>
        <p:txBody>
          <a:bodyPr wrap="none" lIns="0" tIns="0" rIns="0" bIns="0">
            <a:spAutoFit/>
          </a:bodyPr>
          <a:lstStyle/>
          <a:p>
            <a:pPr algn="ctr">
              <a:defRPr sz="1100" b="1">
                <a:solidFill>
                  <a:srgbClr val="1D4ED8"/>
                </a:solidFill>
              </a:defRPr>
            </a:pPr>
            <a:r>
              <a:t>02. TRANSMIT</a:t>
            </a:r>
          </a:p>
          <a:p>
            <a:pPr algn="ctr">
              <a:defRPr sz="1050" b="1">
                <a:solidFill>
                  <a:srgbClr val="0F172A"/>
                </a:solidFill>
              </a:defRPr>
            </a:pPr>
            <a:r>
              <a:t>Telco Airwave</a:t>
            </a:r>
          </a:p>
        </p:txBody>
      </p:sp>
      <p:sp>
        <p:nvSpPr>
          <p:cNvPr id="15" name="TextBox 14"/>
          <p:cNvSpPr txBox="1"/>
          <p:nvPr/>
        </p:nvSpPr>
        <p:spPr>
          <a:xfrm>
            <a:off x="3822192" y="3108960"/>
            <a:ext cx="1865376" cy="914400"/>
          </a:xfrm>
          <a:prstGeom prst="rect">
            <a:avLst/>
          </a:prstGeom>
          <a:noFill/>
        </p:spPr>
        <p:txBody>
          <a:bodyPr wrap="square" lIns="0" tIns="0" rIns="0" bIns="0">
            <a:spAutoFit/>
          </a:bodyPr>
          <a:lstStyle/>
          <a:p>
            <a:pPr>
              <a:defRPr sz="900">
                <a:solidFill>
                  <a:srgbClr val="475569"/>
                </a:solidFill>
              </a:defRPr>
            </a:pPr>
            <a:r>
              <a:t>• Smart / Globe network</a:t>
            </a:r>
          </a:p>
          <a:p>
            <a:pPr>
              <a:defRPr sz="900">
                <a:solidFill>
                  <a:srgbClr val="475569"/>
                </a:solidFill>
              </a:defRPr>
            </a:pPr>
            <a:r>
              <a:t>• Basic GSM cellular text</a:t>
            </a:r>
          </a:p>
          <a:p>
            <a:pPr>
              <a:defRPr sz="900">
                <a:solidFill>
                  <a:srgbClr val="475569"/>
                </a:solidFill>
              </a:defRPr>
            </a:pPr>
            <a:r>
              <a:t>• ZERO mobile data req.</a:t>
            </a:r>
          </a:p>
        </p:txBody>
      </p:sp>
      <p:sp>
        <p:nvSpPr>
          <p:cNvPr id="16" name="Rounded Rectangle 15"/>
          <p:cNvSpPr/>
          <p:nvPr/>
        </p:nvSpPr>
        <p:spPr>
          <a:xfrm>
            <a:off x="6400800" y="1645920"/>
            <a:ext cx="2194560" cy="2468880"/>
          </a:xfrm>
          <a:prstGeom prst="roundRect">
            <a:avLst/>
          </a:prstGeom>
          <a:solidFill>
            <a:srgbClr val="FFFFFF"/>
          </a:solidFill>
          <a:ln w="1905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on_phone.png"/>
          <p:cNvPicPr>
            <a:picLocks noChangeAspect="1"/>
          </p:cNvPicPr>
          <p:nvPr/>
        </p:nvPicPr>
        <p:blipFill>
          <a:blip r:embed="rId5"/>
          <a:stretch>
            <a:fillRect/>
          </a:stretch>
        </p:blipFill>
        <p:spPr>
          <a:xfrm>
            <a:off x="7132320" y="1810512"/>
            <a:ext cx="731520" cy="731520"/>
          </a:xfrm>
          <a:prstGeom prst="rect">
            <a:avLst/>
          </a:prstGeom>
        </p:spPr>
      </p:pic>
      <p:sp>
        <p:nvSpPr>
          <p:cNvPr id="18" name="TextBox 17"/>
          <p:cNvSpPr txBox="1"/>
          <p:nvPr/>
        </p:nvSpPr>
        <p:spPr>
          <a:xfrm>
            <a:off x="6492240" y="2578608"/>
            <a:ext cx="2011680" cy="457200"/>
          </a:xfrm>
          <a:prstGeom prst="rect">
            <a:avLst/>
          </a:prstGeom>
          <a:noFill/>
        </p:spPr>
        <p:txBody>
          <a:bodyPr wrap="none" lIns="0" tIns="0" rIns="0" bIns="0">
            <a:spAutoFit/>
          </a:bodyPr>
          <a:lstStyle/>
          <a:p>
            <a:pPr algn="ctr">
              <a:defRPr sz="1100" b="1">
                <a:solidFill>
                  <a:srgbClr val="D97706"/>
                </a:solidFill>
              </a:defRPr>
            </a:pPr>
            <a:r>
              <a:t>03. OVERRIDE</a:t>
            </a:r>
          </a:p>
          <a:p>
            <a:pPr algn="ctr">
              <a:defRPr sz="1050" b="1">
                <a:solidFill>
                  <a:srgbClr val="0F172A"/>
                </a:solidFill>
              </a:defRPr>
            </a:pPr>
            <a:r>
              <a:t>Android Field App</a:t>
            </a:r>
          </a:p>
        </p:txBody>
      </p:sp>
      <p:sp>
        <p:nvSpPr>
          <p:cNvPr id="19" name="TextBox 18"/>
          <p:cNvSpPr txBox="1"/>
          <p:nvPr/>
        </p:nvSpPr>
        <p:spPr>
          <a:xfrm>
            <a:off x="6565392" y="3108960"/>
            <a:ext cx="1865376" cy="914400"/>
          </a:xfrm>
          <a:prstGeom prst="rect">
            <a:avLst/>
          </a:prstGeom>
          <a:noFill/>
        </p:spPr>
        <p:txBody>
          <a:bodyPr wrap="square" lIns="0" tIns="0" rIns="0" bIns="0">
            <a:spAutoFit/>
          </a:bodyPr>
          <a:lstStyle/>
          <a:p>
            <a:pPr>
              <a:defRPr sz="900">
                <a:solidFill>
                  <a:srgbClr val="475569"/>
                </a:solidFill>
              </a:defRPr>
            </a:pPr>
            <a:r>
              <a:t>• Bypasses Silent / Mute</a:t>
            </a:r>
          </a:p>
          <a:p>
            <a:pPr>
              <a:defRPr sz="900">
                <a:solidFill>
                  <a:srgbClr val="475569"/>
                </a:solidFill>
              </a:defRPr>
            </a:pPr>
            <a:r>
              <a:t>• Wakes locked screen</a:t>
            </a:r>
          </a:p>
          <a:p>
            <a:pPr>
              <a:defRPr sz="900">
                <a:solidFill>
                  <a:srgbClr val="475569"/>
                </a:solidFill>
              </a:defRPr>
            </a:pPr>
            <a:r>
              <a:t>• Loud siren sounds</a:t>
            </a:r>
          </a:p>
        </p:txBody>
      </p:sp>
      <p:sp>
        <p:nvSpPr>
          <p:cNvPr id="20" name="Rounded Rectangle 19"/>
          <p:cNvSpPr/>
          <p:nvPr/>
        </p:nvSpPr>
        <p:spPr>
          <a:xfrm>
            <a:off x="9144000" y="1645920"/>
            <a:ext cx="2194560" cy="2468880"/>
          </a:xfrm>
          <a:prstGeom prst="roundRect">
            <a:avLst/>
          </a:prstGeom>
          <a:solidFill>
            <a:srgbClr val="FFFFFF"/>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on_check.png"/>
          <p:cNvPicPr>
            <a:picLocks noChangeAspect="1"/>
          </p:cNvPicPr>
          <p:nvPr/>
        </p:nvPicPr>
        <p:blipFill>
          <a:blip r:embed="rId6"/>
          <a:stretch>
            <a:fillRect/>
          </a:stretch>
        </p:blipFill>
        <p:spPr>
          <a:xfrm>
            <a:off x="9875520" y="1810512"/>
            <a:ext cx="731520" cy="731520"/>
          </a:xfrm>
          <a:prstGeom prst="rect">
            <a:avLst/>
          </a:prstGeom>
        </p:spPr>
      </p:pic>
      <p:sp>
        <p:nvSpPr>
          <p:cNvPr id="22" name="TextBox 21"/>
          <p:cNvSpPr txBox="1"/>
          <p:nvPr/>
        </p:nvSpPr>
        <p:spPr>
          <a:xfrm>
            <a:off x="9235440" y="2578608"/>
            <a:ext cx="2011680" cy="457200"/>
          </a:xfrm>
          <a:prstGeom prst="rect">
            <a:avLst/>
          </a:prstGeom>
          <a:noFill/>
        </p:spPr>
        <p:txBody>
          <a:bodyPr wrap="none" lIns="0" tIns="0" rIns="0" bIns="0">
            <a:spAutoFit/>
          </a:bodyPr>
          <a:lstStyle/>
          <a:p>
            <a:pPr algn="ctr">
              <a:defRPr sz="1100" b="1">
                <a:solidFill>
                  <a:srgbClr val="065F46"/>
                </a:solidFill>
              </a:defRPr>
            </a:pPr>
            <a:r>
              <a:t>04. ACKNOWLEDGE</a:t>
            </a:r>
          </a:p>
          <a:p>
            <a:pPr algn="ctr">
              <a:defRPr sz="1050" b="1">
                <a:solidFill>
                  <a:srgbClr val="0F172A"/>
                </a:solidFill>
              </a:defRPr>
            </a:pPr>
            <a:r>
              <a:t>Troop Compliance</a:t>
            </a:r>
          </a:p>
        </p:txBody>
      </p:sp>
      <p:sp>
        <p:nvSpPr>
          <p:cNvPr id="23" name="TextBox 22"/>
          <p:cNvSpPr txBox="1"/>
          <p:nvPr/>
        </p:nvSpPr>
        <p:spPr>
          <a:xfrm>
            <a:off x="9308592" y="3108960"/>
            <a:ext cx="1865376" cy="914400"/>
          </a:xfrm>
          <a:prstGeom prst="rect">
            <a:avLst/>
          </a:prstGeom>
          <a:noFill/>
        </p:spPr>
        <p:txBody>
          <a:bodyPr wrap="square" lIns="0" tIns="0" rIns="0" bIns="0">
            <a:spAutoFit/>
          </a:bodyPr>
          <a:lstStyle/>
          <a:p>
            <a:pPr>
              <a:defRPr sz="900">
                <a:solidFill>
                  <a:srgbClr val="475569"/>
                </a:solidFill>
              </a:defRPr>
            </a:pPr>
            <a:r>
              <a:t>• Soldier reads order</a:t>
            </a:r>
          </a:p>
          <a:p>
            <a:pPr>
              <a:defRPr sz="900">
                <a:solidFill>
                  <a:srgbClr val="475569"/>
                </a:solidFill>
              </a:defRPr>
            </a:pPr>
            <a:r>
              <a:t>• Taps '✓ I Received Order'</a:t>
            </a:r>
          </a:p>
          <a:p>
            <a:pPr>
              <a:defRPr sz="900">
                <a:solidFill>
                  <a:srgbClr val="475569"/>
                </a:solidFill>
              </a:defRPr>
            </a:pPr>
            <a:r>
              <a:t>• Siren silences instantly</a:t>
            </a:r>
          </a:p>
        </p:txBody>
      </p:sp>
      <p:sp>
        <p:nvSpPr>
          <p:cNvPr id="24" name="Right Arrow 23"/>
          <p:cNvSpPr/>
          <p:nvPr/>
        </p:nvSpPr>
        <p:spPr>
          <a:xfrm>
            <a:off x="3154680" y="2651760"/>
            <a:ext cx="457200" cy="237744"/>
          </a:xfrm>
          <a:prstGeom prst="rightArrow">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0" y="2359152"/>
            <a:ext cx="914400" cy="228600"/>
          </a:xfrm>
          <a:prstGeom prst="rect">
            <a:avLst/>
          </a:prstGeom>
          <a:noFill/>
        </p:spPr>
        <p:txBody>
          <a:bodyPr wrap="none" lIns="0" tIns="0" rIns="0" bIns="0">
            <a:spAutoFit/>
          </a:bodyPr>
          <a:lstStyle/>
          <a:p>
            <a:pPr algn="ctr">
              <a:defRPr sz="850" b="1">
                <a:solidFill>
                  <a:srgbClr val="94A3B8"/>
                </a:solidFill>
              </a:defRPr>
            </a:pPr>
            <a:r>
              <a:t>API / Cloud</a:t>
            </a:r>
          </a:p>
        </p:txBody>
      </p:sp>
      <p:sp>
        <p:nvSpPr>
          <p:cNvPr id="26" name="Right Arrow 25"/>
          <p:cNvSpPr/>
          <p:nvPr/>
        </p:nvSpPr>
        <p:spPr>
          <a:xfrm>
            <a:off x="5897880" y="2651760"/>
            <a:ext cx="457200" cy="237744"/>
          </a:xfrm>
          <a:prstGeom prst="rightArrow">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59152"/>
            <a:ext cx="914400" cy="228600"/>
          </a:xfrm>
          <a:prstGeom prst="rect">
            <a:avLst/>
          </a:prstGeom>
          <a:noFill/>
        </p:spPr>
        <p:txBody>
          <a:bodyPr wrap="none" lIns="0" tIns="0" rIns="0" bIns="0">
            <a:spAutoFit/>
          </a:bodyPr>
          <a:lstStyle/>
          <a:p>
            <a:pPr algn="ctr">
              <a:defRPr sz="850" b="1">
                <a:solidFill>
                  <a:srgbClr val="94A3B8"/>
                </a:solidFill>
              </a:defRPr>
            </a:pPr>
            <a:r>
              <a:t>GSM Cellular</a:t>
            </a:r>
          </a:p>
        </p:txBody>
      </p:sp>
      <p:sp>
        <p:nvSpPr>
          <p:cNvPr id="28" name="Right Arrow 27"/>
          <p:cNvSpPr/>
          <p:nvPr/>
        </p:nvSpPr>
        <p:spPr>
          <a:xfrm>
            <a:off x="8641080" y="2651760"/>
            <a:ext cx="457200" cy="237744"/>
          </a:xfrm>
          <a:prstGeom prst="rightArrow">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0" y="2359152"/>
            <a:ext cx="914400" cy="228600"/>
          </a:xfrm>
          <a:prstGeom prst="rect">
            <a:avLst/>
          </a:prstGeom>
          <a:noFill/>
        </p:spPr>
        <p:txBody>
          <a:bodyPr wrap="none" lIns="0" tIns="0" rIns="0" bIns="0">
            <a:spAutoFit/>
          </a:bodyPr>
          <a:lstStyle/>
          <a:p>
            <a:pPr algn="ctr">
              <a:defRPr sz="850" b="1">
                <a:solidFill>
                  <a:srgbClr val="94A3B8"/>
                </a:solidFill>
              </a:defRPr>
            </a:pPr>
            <a:r>
              <a:t>OS Wake</a:t>
            </a:r>
          </a:p>
        </p:txBody>
      </p:sp>
      <p:sp>
        <p:nvSpPr>
          <p:cNvPr id="30" name="Rounded Rectangle 29"/>
          <p:cNvSpPr/>
          <p:nvPr/>
        </p:nvSpPr>
        <p:spPr>
          <a:xfrm>
            <a:off x="914400" y="4343400"/>
            <a:ext cx="10362895" cy="1554480"/>
          </a:xfrm>
          <a:prstGeom prst="roundRect">
            <a:avLst/>
          </a:prstGeom>
          <a:solidFill>
            <a:srgbClr val="FFFFFF"/>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97280" y="4526280"/>
            <a:ext cx="2926080" cy="118872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47857"/>
                </a:solidFill>
              </a:defRPr>
            </a:pPr>
            <a:r>
              <a:t>CLOSED-LOOP FEEDBACK</a:t>
            </a:r>
          </a:p>
          <a:p>
            <a:br/>
            <a:pPr algn="ctr">
              <a:defRPr sz="1000">
                <a:solidFill>
                  <a:srgbClr val="475569"/>
                </a:solidFill>
              </a:defRPr>
            </a:pPr>
            <a:r>
              <a:t>Real-Time Command Telemetry</a:t>
            </a:r>
            <a:br/>
            <a:r>
              <a:t>100% Troop Accountability</a:t>
            </a:r>
          </a:p>
        </p:txBody>
      </p:sp>
      <p:sp>
        <p:nvSpPr>
          <p:cNvPr id="32" name="TextBox 31"/>
          <p:cNvSpPr txBox="1"/>
          <p:nvPr/>
        </p:nvSpPr>
        <p:spPr>
          <a:xfrm>
            <a:off x="4297680" y="4572000"/>
            <a:ext cx="6675120" cy="1097280"/>
          </a:xfrm>
          <a:prstGeom prst="rect">
            <a:avLst/>
          </a:prstGeom>
          <a:noFill/>
        </p:spPr>
        <p:txBody>
          <a:bodyPr wrap="square">
            <a:spAutoFit/>
          </a:bodyPr>
          <a:lstStyle/>
          <a:p>
            <a:pPr>
              <a:defRPr sz="1300" b="1">
                <a:solidFill>
                  <a:srgbClr val="047857"/>
                </a:solidFill>
              </a:defRPr>
            </a:pPr>
            <a:r>
              <a:t>◄── Returning Telemetry: Instant Verification to HQ Dashboard</a:t>
            </a:r>
          </a:p>
          <a:p>
            <a:pPr>
              <a:defRPr sz="1100">
                <a:solidFill>
                  <a:srgbClr val="475569"/>
                </a:solidFill>
              </a:defRPr>
            </a:pPr>
            <a:r>
              <a:t>When the soldier taps '✓ I RECEIVED THIS ORDER', the siren kills immediately and confirmation is transmitted back. The Headquarters Web Dashboard updates live in real time with individual soldier response timestamps, CDC battalion tallies, and true mobilization readiness.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384048"/>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CORE CAPABILITIES</a:t>
            </a:r>
          </a:p>
        </p:txBody>
      </p:sp>
      <p:sp>
        <p:nvSpPr>
          <p:cNvPr id="4" name="TextBox 3"/>
          <p:cNvSpPr txBox="1"/>
          <p:nvPr/>
        </p:nvSpPr>
        <p:spPr>
          <a:xfrm>
            <a:off x="914400" y="777240"/>
            <a:ext cx="8686800" cy="594360"/>
          </a:xfrm>
          <a:prstGeom prst="rect">
            <a:avLst/>
          </a:prstGeom>
          <a:noFill/>
        </p:spPr>
        <p:txBody>
          <a:bodyPr wrap="none" lIns="0" tIns="0" rIns="0" bIns="0">
            <a:spAutoFit/>
          </a:bodyPr>
          <a:lstStyle/>
          <a:p>
            <a:pPr>
              <a:defRPr sz="2500" b="1">
                <a:solidFill>
                  <a:srgbClr val="0F172A"/>
                </a:solidFill>
              </a:defRPr>
            </a:pPr>
            <a:r>
              <a:t>The 4 Pillars of the Mobile Engine</a:t>
            </a:r>
          </a:p>
        </p:txBody>
      </p:sp>
      <p:pic>
        <p:nvPicPr>
          <p:cNvPr id="5" name="Picture 4" descr="rescom-emblem.jpg"/>
          <p:cNvPicPr>
            <a:picLocks noChangeAspect="1"/>
          </p:cNvPicPr>
          <p:nvPr/>
        </p:nvPicPr>
        <p:blipFill>
          <a:blip r:embed="rId2"/>
          <a:stretch>
            <a:fillRect/>
          </a:stretch>
        </p:blipFill>
        <p:spPr>
          <a:xfrm>
            <a:off x="10607040" y="384048"/>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04 / 07</a:t>
            </a:r>
          </a:p>
        </p:txBody>
      </p:sp>
      <p:sp>
        <p:nvSpPr>
          <p:cNvPr id="8" name="Rounded Rectangle 7"/>
          <p:cNvSpPr/>
          <p:nvPr/>
        </p:nvSpPr>
        <p:spPr>
          <a:xfrm>
            <a:off x="914400" y="1737360"/>
            <a:ext cx="1036289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7280" y="1901952"/>
            <a:ext cx="548640" cy="5486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47857"/>
                </a:solidFill>
              </a:defRPr>
            </a:pPr>
            <a:r>
              <a:t>1</a:t>
            </a:r>
          </a:p>
        </p:txBody>
      </p:sp>
      <p:sp>
        <p:nvSpPr>
          <p:cNvPr id="10" name="TextBox 9"/>
          <p:cNvSpPr txBox="1"/>
          <p:nvPr/>
        </p:nvSpPr>
        <p:spPr>
          <a:xfrm>
            <a:off x="1920240" y="1874520"/>
            <a:ext cx="2926080" cy="594360"/>
          </a:xfrm>
          <a:prstGeom prst="rect">
            <a:avLst/>
          </a:prstGeom>
          <a:noFill/>
        </p:spPr>
        <p:txBody>
          <a:bodyPr wrap="none" lIns="0" tIns="0" rIns="0" bIns="0">
            <a:spAutoFit/>
          </a:bodyPr>
          <a:lstStyle/>
          <a:p>
            <a:pPr>
              <a:defRPr sz="1400" b="1">
                <a:solidFill>
                  <a:srgbClr val="0F172A"/>
                </a:solidFill>
              </a:defRPr>
            </a:pPr>
            <a:r>
              <a:t>Hardware Alarm Override</a:t>
            </a:r>
          </a:p>
        </p:txBody>
      </p:sp>
      <p:sp>
        <p:nvSpPr>
          <p:cNvPr id="11" name="TextBox 10"/>
          <p:cNvSpPr txBox="1"/>
          <p:nvPr/>
        </p:nvSpPr>
        <p:spPr>
          <a:xfrm>
            <a:off x="4937760" y="1874520"/>
            <a:ext cx="6126480" cy="594360"/>
          </a:xfrm>
          <a:prstGeom prst="rect">
            <a:avLst/>
          </a:prstGeom>
          <a:noFill/>
        </p:spPr>
        <p:txBody>
          <a:bodyPr wrap="square" lIns="0" tIns="0" rIns="0" bIns="0">
            <a:spAutoFit/>
          </a:bodyPr>
          <a:lstStyle/>
          <a:p>
            <a:pPr>
              <a:defRPr sz="1200">
                <a:solidFill>
                  <a:srgbClr val="475569"/>
                </a:solidFill>
              </a:defRPr>
            </a:pPr>
            <a:r>
              <a:t>Bypasses Silent, Mute, and Do Not Disturb by using privileged Android USAGE_ALARM stream at maximum hardware volume.</a:t>
            </a:r>
          </a:p>
        </p:txBody>
      </p:sp>
      <p:sp>
        <p:nvSpPr>
          <p:cNvPr id="12" name="Rounded Rectangle 11"/>
          <p:cNvSpPr/>
          <p:nvPr/>
        </p:nvSpPr>
        <p:spPr>
          <a:xfrm>
            <a:off x="914400" y="2788920"/>
            <a:ext cx="1036289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97280" y="2953512"/>
            <a:ext cx="548640" cy="5486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47857"/>
                </a:solidFill>
              </a:defRPr>
            </a:pPr>
            <a:r>
              <a:t>2</a:t>
            </a:r>
          </a:p>
        </p:txBody>
      </p:sp>
      <p:sp>
        <p:nvSpPr>
          <p:cNvPr id="14" name="TextBox 13"/>
          <p:cNvSpPr txBox="1"/>
          <p:nvPr/>
        </p:nvSpPr>
        <p:spPr>
          <a:xfrm>
            <a:off x="1920240" y="2926080"/>
            <a:ext cx="2926080" cy="594360"/>
          </a:xfrm>
          <a:prstGeom prst="rect">
            <a:avLst/>
          </a:prstGeom>
          <a:noFill/>
        </p:spPr>
        <p:txBody>
          <a:bodyPr wrap="none" lIns="0" tIns="0" rIns="0" bIns="0">
            <a:spAutoFit/>
          </a:bodyPr>
          <a:lstStyle/>
          <a:p>
            <a:pPr>
              <a:defRPr sz="1400" b="1">
                <a:solidFill>
                  <a:srgbClr val="0F172A"/>
                </a:solidFill>
              </a:defRPr>
            </a:pPr>
            <a:r>
              <a:t>Lockscreen Takeover</a:t>
            </a:r>
          </a:p>
        </p:txBody>
      </p:sp>
      <p:sp>
        <p:nvSpPr>
          <p:cNvPr id="15" name="TextBox 14"/>
          <p:cNvSpPr txBox="1"/>
          <p:nvPr/>
        </p:nvSpPr>
        <p:spPr>
          <a:xfrm>
            <a:off x="4937760" y="2926080"/>
            <a:ext cx="6126480" cy="594360"/>
          </a:xfrm>
          <a:prstGeom prst="rect">
            <a:avLst/>
          </a:prstGeom>
          <a:noFill/>
        </p:spPr>
        <p:txBody>
          <a:bodyPr wrap="square" lIns="0" tIns="0" rIns="0" bIns="0">
            <a:spAutoFit/>
          </a:bodyPr>
          <a:lstStyle/>
          <a:p>
            <a:pPr>
              <a:defRPr sz="1200">
                <a:solidFill>
                  <a:srgbClr val="475569"/>
                </a:solidFill>
              </a:defRPr>
            </a:pPr>
            <a:r>
              <a:t>Forces the phone display ON even while locked, presenting the official 10RCDG emblem and mobilization order.</a:t>
            </a:r>
          </a:p>
        </p:txBody>
      </p:sp>
      <p:sp>
        <p:nvSpPr>
          <p:cNvPr id="16" name="Rounded Rectangle 15"/>
          <p:cNvSpPr/>
          <p:nvPr/>
        </p:nvSpPr>
        <p:spPr>
          <a:xfrm>
            <a:off x="914400" y="3840480"/>
            <a:ext cx="1036289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97280" y="4005072"/>
            <a:ext cx="548640" cy="5486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47857"/>
                </a:solidFill>
              </a:defRPr>
            </a:pPr>
            <a:r>
              <a:t>3</a:t>
            </a:r>
          </a:p>
        </p:txBody>
      </p:sp>
      <p:sp>
        <p:nvSpPr>
          <p:cNvPr id="18" name="TextBox 17"/>
          <p:cNvSpPr txBox="1"/>
          <p:nvPr/>
        </p:nvSpPr>
        <p:spPr>
          <a:xfrm>
            <a:off x="1920240" y="3977640"/>
            <a:ext cx="2926080" cy="594360"/>
          </a:xfrm>
          <a:prstGeom prst="rect">
            <a:avLst/>
          </a:prstGeom>
          <a:noFill/>
        </p:spPr>
        <p:txBody>
          <a:bodyPr wrap="none" lIns="0" tIns="0" rIns="0" bIns="0">
            <a:spAutoFit/>
          </a:bodyPr>
          <a:lstStyle/>
          <a:p>
            <a:pPr>
              <a:defRPr sz="1400" b="1">
                <a:solidFill>
                  <a:srgbClr val="0F172A"/>
                </a:solidFill>
              </a:defRPr>
            </a:pPr>
            <a:r>
              <a:t>100% Offline Capability</a:t>
            </a:r>
          </a:p>
        </p:txBody>
      </p:sp>
      <p:sp>
        <p:nvSpPr>
          <p:cNvPr id="19" name="TextBox 18"/>
          <p:cNvSpPr txBox="1"/>
          <p:nvPr/>
        </p:nvSpPr>
        <p:spPr>
          <a:xfrm>
            <a:off x="4937760" y="3977640"/>
            <a:ext cx="6126480" cy="594360"/>
          </a:xfrm>
          <a:prstGeom prst="rect">
            <a:avLst/>
          </a:prstGeom>
          <a:noFill/>
        </p:spPr>
        <p:txBody>
          <a:bodyPr wrap="square" lIns="0" tIns="0" rIns="0" bIns="0">
            <a:spAutoFit/>
          </a:bodyPr>
          <a:lstStyle/>
          <a:p>
            <a:pPr>
              <a:defRPr sz="1200">
                <a:solidFill>
                  <a:srgbClr val="475569"/>
                </a:solidFill>
              </a:defRPr>
            </a:pPr>
            <a:r>
              <a:t>Triggered over basic GSM text message payload. Does NOT require mobile data, Wi-Fi, or internet connection on the soldier's phone.</a:t>
            </a:r>
          </a:p>
        </p:txBody>
      </p:sp>
      <p:sp>
        <p:nvSpPr>
          <p:cNvPr id="20" name="Rounded Rectangle 19"/>
          <p:cNvSpPr/>
          <p:nvPr/>
        </p:nvSpPr>
        <p:spPr>
          <a:xfrm>
            <a:off x="914400" y="4892040"/>
            <a:ext cx="1036289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97280" y="5056632"/>
            <a:ext cx="548640" cy="5486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47857"/>
                </a:solidFill>
              </a:defRPr>
            </a:pPr>
            <a:r>
              <a:t>4</a:t>
            </a:r>
          </a:p>
        </p:txBody>
      </p:sp>
      <p:sp>
        <p:nvSpPr>
          <p:cNvPr id="22" name="TextBox 21"/>
          <p:cNvSpPr txBox="1"/>
          <p:nvPr/>
        </p:nvSpPr>
        <p:spPr>
          <a:xfrm>
            <a:off x="1920240" y="5029200"/>
            <a:ext cx="2926080" cy="594360"/>
          </a:xfrm>
          <a:prstGeom prst="rect">
            <a:avLst/>
          </a:prstGeom>
          <a:noFill/>
        </p:spPr>
        <p:txBody>
          <a:bodyPr wrap="none" lIns="0" tIns="0" rIns="0" bIns="0">
            <a:spAutoFit/>
          </a:bodyPr>
          <a:lstStyle/>
          <a:p>
            <a:pPr>
              <a:defRPr sz="1400" b="1">
                <a:solidFill>
                  <a:srgbClr val="0F172A"/>
                </a:solidFill>
              </a:defRPr>
            </a:pPr>
            <a:r>
              <a:t>Instant Acknowledgment</a:t>
            </a:r>
          </a:p>
        </p:txBody>
      </p:sp>
      <p:sp>
        <p:nvSpPr>
          <p:cNvPr id="23" name="TextBox 22"/>
          <p:cNvSpPr txBox="1"/>
          <p:nvPr/>
        </p:nvSpPr>
        <p:spPr>
          <a:xfrm>
            <a:off x="4937760" y="5029200"/>
            <a:ext cx="6126480" cy="594360"/>
          </a:xfrm>
          <a:prstGeom prst="rect">
            <a:avLst/>
          </a:prstGeom>
          <a:noFill/>
        </p:spPr>
        <p:txBody>
          <a:bodyPr wrap="square" lIns="0" tIns="0" rIns="0" bIns="0">
            <a:spAutoFit/>
          </a:bodyPr>
          <a:lstStyle/>
          <a:p>
            <a:pPr>
              <a:defRPr sz="1200">
                <a:solidFill>
                  <a:srgbClr val="475569"/>
                </a:solidFill>
              </a:defRPr>
            </a:pPr>
            <a:r>
              <a:t>Soldier taps '✓ I Received This Order' to silence the siren and confirm their mobilization status to Headquarters.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384048"/>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LIVE DEMONSTRATION</a:t>
            </a:r>
          </a:p>
        </p:txBody>
      </p:sp>
      <p:sp>
        <p:nvSpPr>
          <p:cNvPr id="4" name="TextBox 3"/>
          <p:cNvSpPr txBox="1"/>
          <p:nvPr/>
        </p:nvSpPr>
        <p:spPr>
          <a:xfrm>
            <a:off x="914400" y="777240"/>
            <a:ext cx="8686800" cy="594360"/>
          </a:xfrm>
          <a:prstGeom prst="rect">
            <a:avLst/>
          </a:prstGeom>
          <a:noFill/>
        </p:spPr>
        <p:txBody>
          <a:bodyPr wrap="none" lIns="0" tIns="0" rIns="0" bIns="0">
            <a:spAutoFit/>
          </a:bodyPr>
          <a:lstStyle/>
          <a:p>
            <a:pPr>
              <a:defRPr sz="2500" b="1">
                <a:solidFill>
                  <a:srgbClr val="0F172A"/>
                </a:solidFill>
              </a:defRPr>
            </a:pPr>
            <a:r>
              <a:t>Hands-On Test: Web Dispatch to Soldier Siren</a:t>
            </a:r>
          </a:p>
        </p:txBody>
      </p:sp>
      <p:pic>
        <p:nvPicPr>
          <p:cNvPr id="5" name="Picture 4" descr="rescom-emblem.jpg"/>
          <p:cNvPicPr>
            <a:picLocks noChangeAspect="1"/>
          </p:cNvPicPr>
          <p:nvPr/>
        </p:nvPicPr>
        <p:blipFill>
          <a:blip r:embed="rId2"/>
          <a:stretch>
            <a:fillRect/>
          </a:stretch>
        </p:blipFill>
        <p:spPr>
          <a:xfrm>
            <a:off x="10607040" y="384048"/>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05 / 07</a:t>
            </a:r>
          </a:p>
        </p:txBody>
      </p:sp>
      <p:sp>
        <p:nvSpPr>
          <p:cNvPr id="8" name="Rounded Rectangle 7"/>
          <p:cNvSpPr/>
          <p:nvPr/>
        </p:nvSpPr>
        <p:spPr>
          <a:xfrm>
            <a:off x="914400" y="182880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80160" y="2194560"/>
            <a:ext cx="2468880" cy="548640"/>
          </a:xfrm>
          <a:prstGeom prst="roundRect">
            <a:avLst/>
          </a:prstGeom>
          <a:solidFill>
            <a:srgbClr val="ECFDF5"/>
          </a:solidFill>
          <a:ln w="1270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65F46"/>
                </a:solidFill>
              </a:defRPr>
            </a:pPr>
            <a:r>
              <a:t>STEP 1</a:t>
            </a:r>
          </a:p>
        </p:txBody>
      </p:sp>
      <p:sp>
        <p:nvSpPr>
          <p:cNvPr id="10" name="TextBox 9"/>
          <p:cNvSpPr txBox="1"/>
          <p:nvPr/>
        </p:nvSpPr>
        <p:spPr>
          <a:xfrm>
            <a:off x="1234440" y="3017520"/>
            <a:ext cx="2560320" cy="2468880"/>
          </a:xfrm>
          <a:prstGeom prst="rect">
            <a:avLst/>
          </a:prstGeom>
          <a:noFill/>
        </p:spPr>
        <p:txBody>
          <a:bodyPr wrap="square">
            <a:spAutoFit/>
          </a:bodyPr>
          <a:lstStyle/>
          <a:p>
            <a:pPr>
              <a:defRPr sz="1500" b="1">
                <a:solidFill>
                  <a:srgbClr val="0F172A"/>
                </a:solidFill>
              </a:defRPr>
            </a:pPr>
            <a:r>
              <a:t>Officer Dispatches Alert</a:t>
            </a:r>
          </a:p>
          <a:p>
            <a:br/>
            <a:pPr>
              <a:defRPr sz="1200">
                <a:solidFill>
                  <a:srgbClr val="475569"/>
                </a:solidFill>
              </a:defRPr>
            </a:pPr>
            <a:r>
              <a:t>Commander selects target unit (e.g. 1001st CDC) on the web portal and clicks 'TRANSMIT EMERGENCY SIREN'.</a:t>
            </a:r>
          </a:p>
        </p:txBody>
      </p:sp>
      <p:sp>
        <p:nvSpPr>
          <p:cNvPr id="11" name="Rounded Rectangle 10"/>
          <p:cNvSpPr/>
          <p:nvPr/>
        </p:nvSpPr>
        <p:spPr>
          <a:xfrm>
            <a:off x="4480560" y="182880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846320" y="2194560"/>
            <a:ext cx="2468880" cy="54864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97706"/>
                </a:solidFill>
              </a:defRPr>
            </a:pPr>
            <a:r>
              <a:t>STEP 2</a:t>
            </a:r>
          </a:p>
        </p:txBody>
      </p:sp>
      <p:sp>
        <p:nvSpPr>
          <p:cNvPr id="13" name="TextBox 12"/>
          <p:cNvSpPr txBox="1"/>
          <p:nvPr/>
        </p:nvSpPr>
        <p:spPr>
          <a:xfrm>
            <a:off x="4800600" y="3017520"/>
            <a:ext cx="2560320" cy="2468880"/>
          </a:xfrm>
          <a:prstGeom prst="rect">
            <a:avLst/>
          </a:prstGeom>
          <a:noFill/>
        </p:spPr>
        <p:txBody>
          <a:bodyPr wrap="square">
            <a:spAutoFit/>
          </a:bodyPr>
          <a:lstStyle/>
          <a:p>
            <a:pPr>
              <a:defRPr sz="1500" b="1">
                <a:solidFill>
                  <a:srgbClr val="0F172A"/>
                </a:solidFill>
              </a:defRPr>
            </a:pPr>
            <a:r>
              <a:t>Phone Lights Up &amp; Sounds Siren</a:t>
            </a:r>
          </a:p>
          <a:p>
            <a:br/>
            <a:pPr>
              <a:defRPr sz="1200">
                <a:solidFill>
                  <a:srgbClr val="475569"/>
                </a:solidFill>
              </a:defRPr>
            </a:pPr>
            <a:r>
              <a:t>The soldier's muted, locked phone immediately turns on, displays the 10RCDG emblem, and sounds a loud tactical siren.</a:t>
            </a:r>
          </a:p>
        </p:txBody>
      </p:sp>
      <p:sp>
        <p:nvSpPr>
          <p:cNvPr id="14" name="Rounded Rectangle 13"/>
          <p:cNvSpPr/>
          <p:nvPr/>
        </p:nvSpPr>
        <p:spPr>
          <a:xfrm>
            <a:off x="8046720" y="182880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12480" y="2194560"/>
            <a:ext cx="2468880" cy="548640"/>
          </a:xfrm>
          <a:prstGeom prst="roundRect">
            <a:avLst/>
          </a:prstGeom>
          <a:solidFill>
            <a:srgbClr val="ECFDF5"/>
          </a:solidFill>
          <a:ln w="1270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65F46"/>
                </a:solidFill>
              </a:defRPr>
            </a:pPr>
            <a:r>
              <a:t>STEP 3</a:t>
            </a:r>
          </a:p>
        </p:txBody>
      </p:sp>
      <p:sp>
        <p:nvSpPr>
          <p:cNvPr id="16" name="TextBox 15"/>
          <p:cNvSpPr txBox="1"/>
          <p:nvPr/>
        </p:nvSpPr>
        <p:spPr>
          <a:xfrm>
            <a:off x="8366760" y="3017520"/>
            <a:ext cx="2560320" cy="2468880"/>
          </a:xfrm>
          <a:prstGeom prst="rect">
            <a:avLst/>
          </a:prstGeom>
          <a:noFill/>
        </p:spPr>
        <p:txBody>
          <a:bodyPr wrap="square">
            <a:spAutoFit/>
          </a:bodyPr>
          <a:lstStyle/>
          <a:p>
            <a:pPr>
              <a:defRPr sz="1500" b="1">
                <a:solidFill>
                  <a:srgbClr val="0F172A"/>
                </a:solidFill>
              </a:defRPr>
            </a:pPr>
            <a:r>
              <a:t>Troop Acknowledges Order</a:t>
            </a:r>
          </a:p>
          <a:p>
            <a:br/>
            <a:pPr>
              <a:defRPr sz="1200">
                <a:solidFill>
                  <a:srgbClr val="475569"/>
                </a:solidFill>
              </a:defRPr>
            </a:pPr>
            <a:r>
              <a:t>Soldier taps '✓ I RECEIVED THIS ORDER'. The alarm silences and compliance is recorded for headquarters.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384048"/>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STRATEGIC REQUIREMENT</a:t>
            </a:r>
          </a:p>
        </p:txBody>
      </p:sp>
      <p:sp>
        <p:nvSpPr>
          <p:cNvPr id="4" name="TextBox 3"/>
          <p:cNvSpPr txBox="1"/>
          <p:nvPr/>
        </p:nvSpPr>
        <p:spPr>
          <a:xfrm>
            <a:off x="914400" y="777240"/>
            <a:ext cx="8686800" cy="594360"/>
          </a:xfrm>
          <a:prstGeom prst="rect">
            <a:avLst/>
          </a:prstGeom>
          <a:noFill/>
        </p:spPr>
        <p:txBody>
          <a:bodyPr wrap="none" lIns="0" tIns="0" rIns="0" bIns="0">
            <a:spAutoFit/>
          </a:bodyPr>
          <a:lstStyle/>
          <a:p>
            <a:pPr>
              <a:defRPr sz="2500" b="1">
                <a:solidFill>
                  <a:srgbClr val="0F172A"/>
                </a:solidFill>
              </a:defRPr>
            </a:pPr>
            <a:r>
              <a:t>The Goal: Securing an Official Alphanumeric SENDER ID</a:t>
            </a:r>
          </a:p>
        </p:txBody>
      </p:sp>
      <p:pic>
        <p:nvPicPr>
          <p:cNvPr id="5" name="Picture 4" descr="rescom-emblem.jpg"/>
          <p:cNvPicPr>
            <a:picLocks noChangeAspect="1"/>
          </p:cNvPicPr>
          <p:nvPr/>
        </p:nvPicPr>
        <p:blipFill>
          <a:blip r:embed="rId2"/>
          <a:stretch>
            <a:fillRect/>
          </a:stretch>
        </p:blipFill>
        <p:spPr>
          <a:xfrm>
            <a:off x="10607040" y="384048"/>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06 / 07</a:t>
            </a:r>
          </a:p>
        </p:txBody>
      </p:sp>
      <p:sp>
        <p:nvSpPr>
          <p:cNvPr id="8" name="Rounded Rectangle 7"/>
          <p:cNvSpPr/>
          <p:nvPr/>
        </p:nvSpPr>
        <p:spPr>
          <a:xfrm>
            <a:off x="914400" y="1828800"/>
            <a:ext cx="49834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80160" y="2103120"/>
            <a:ext cx="4251960" cy="54864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DC2626"/>
                </a:solidFill>
              </a:defRPr>
            </a:pPr>
            <a:r>
              <a:t>CURRENT PROTOTYPE (SIM Gateway)</a:t>
            </a:r>
          </a:p>
        </p:txBody>
      </p:sp>
      <p:sp>
        <p:nvSpPr>
          <p:cNvPr id="10" name="TextBox 9"/>
          <p:cNvSpPr txBox="1"/>
          <p:nvPr/>
        </p:nvSpPr>
        <p:spPr>
          <a:xfrm>
            <a:off x="1280160" y="2834640"/>
            <a:ext cx="4251960" cy="2651760"/>
          </a:xfrm>
          <a:prstGeom prst="rect">
            <a:avLst/>
          </a:prstGeom>
          <a:noFill/>
        </p:spPr>
        <p:txBody>
          <a:bodyPr wrap="square">
            <a:spAutoFit/>
          </a:bodyPr>
          <a:lstStyle/>
          <a:p>
            <a:pPr>
              <a:defRPr sz="1200">
                <a:solidFill>
                  <a:srgbClr val="DC2626"/>
                </a:solidFill>
              </a:defRPr>
            </a:pPr>
            <a:r>
              <a:t>✗  Sent from an ordinary 11-digit number (0917-xxx-xxxx)</a:t>
            </a:r>
            <a:br/>
          </a:p>
          <a:p>
            <a:pPr>
              <a:defRPr sz="1200">
                <a:solidFill>
                  <a:srgbClr val="DC2626"/>
                </a:solidFill>
              </a:defRPr>
            </a:pPr>
            <a:r>
              <a:t>✗  Telco firewalls block all web links (.com, .app) due to NTC anti-smishing laws</a:t>
            </a:r>
            <a:br/>
          </a:p>
          <a:p>
            <a:pPr>
              <a:defRPr sz="1200">
                <a:solidFill>
                  <a:srgbClr val="DC2626"/>
                </a:solidFill>
              </a:defRPr>
            </a:pPr>
            <a:r>
              <a:t>✗  Slow speed: limited to 10–15 SMS per minute on SIM cards</a:t>
            </a:r>
            <a:br/>
          </a:p>
        </p:txBody>
      </p:sp>
      <p:sp>
        <p:nvSpPr>
          <p:cNvPr id="11" name="Rounded Rectangle 10"/>
          <p:cNvSpPr/>
          <p:nvPr/>
        </p:nvSpPr>
        <p:spPr>
          <a:xfrm>
            <a:off x="6291072" y="1828800"/>
            <a:ext cx="49834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56832" y="2103120"/>
            <a:ext cx="4251960" cy="548640"/>
          </a:xfrm>
          <a:prstGeom prst="roundRect">
            <a:avLst/>
          </a:prstGeom>
          <a:solidFill>
            <a:srgbClr val="ECFDF5"/>
          </a:solidFill>
          <a:ln w="1270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65F46"/>
                </a:solidFill>
              </a:defRPr>
            </a:pPr>
            <a:r>
              <a:t>WITH OFFICIAL SENDER ID ('10RCDG')</a:t>
            </a:r>
          </a:p>
        </p:txBody>
      </p:sp>
      <p:sp>
        <p:nvSpPr>
          <p:cNvPr id="13" name="TextBox 12"/>
          <p:cNvSpPr txBox="1"/>
          <p:nvPr/>
        </p:nvSpPr>
        <p:spPr>
          <a:xfrm>
            <a:off x="6656832" y="2834640"/>
            <a:ext cx="4251960" cy="2651760"/>
          </a:xfrm>
          <a:prstGeom prst="rect">
            <a:avLst/>
          </a:prstGeom>
          <a:noFill/>
        </p:spPr>
        <p:txBody>
          <a:bodyPr wrap="square">
            <a:spAutoFit/>
          </a:bodyPr>
          <a:lstStyle/>
          <a:p>
            <a:pPr>
              <a:defRPr sz="1200">
                <a:solidFill>
                  <a:srgbClr val="0F172A"/>
                </a:solidFill>
              </a:defRPr>
            </a:pPr>
            <a:r>
              <a:t>✓  Displays official military sender name: '10RCDG' or 'RESCOM-PA'</a:t>
            </a:r>
            <a:br/>
          </a:p>
          <a:p>
            <a:pPr>
              <a:defRPr sz="1200">
                <a:solidFill>
                  <a:srgbClr val="0F172A"/>
                </a:solidFill>
              </a:defRPr>
            </a:pPr>
            <a:r>
              <a:t>✓  100% Whitelisted by Globe &amp; Smart: Zero spam blocking, allows official download links</a:t>
            </a:r>
            <a:br/>
          </a:p>
          <a:p>
            <a:pPr>
              <a:defRPr sz="1200">
                <a:solidFill>
                  <a:srgbClr val="0F172A"/>
                </a:solidFill>
              </a:defRPr>
            </a:pPr>
            <a:r>
              <a:t>✓  High-speed broadcast: Dispatches 100+ SMS per second to thousands of troops instantly</a:t>
            </a:r>
            <a:b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scom-slide-bg.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1371600" y="914400"/>
            <a:ext cx="944849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scom-emblem.jpg"/>
          <p:cNvPicPr>
            <a:picLocks noChangeAspect="1"/>
          </p:cNvPicPr>
          <p:nvPr/>
        </p:nvPicPr>
        <p:blipFill>
          <a:blip r:embed="rId3"/>
          <a:stretch>
            <a:fillRect/>
          </a:stretch>
        </p:blipFill>
        <p:spPr>
          <a:xfrm>
            <a:off x="5486400" y="1188720"/>
            <a:ext cx="1188720" cy="1188720"/>
          </a:xfrm>
          <a:prstGeom prst="rect">
            <a:avLst/>
          </a:prstGeom>
        </p:spPr>
      </p:pic>
      <p:sp>
        <p:nvSpPr>
          <p:cNvPr id="5" name="TextBox 4"/>
          <p:cNvSpPr txBox="1"/>
          <p:nvPr/>
        </p:nvSpPr>
        <p:spPr>
          <a:xfrm>
            <a:off x="1828800" y="2560320"/>
            <a:ext cx="8534095" cy="1828800"/>
          </a:xfrm>
          <a:prstGeom prst="rect">
            <a:avLst/>
          </a:prstGeom>
          <a:noFill/>
        </p:spPr>
        <p:txBody>
          <a:bodyPr wrap="square">
            <a:spAutoFit/>
          </a:bodyPr>
          <a:lstStyle/>
          <a:p>
            <a:pPr algn="ctr">
              <a:defRPr sz="2800" b="1">
                <a:solidFill>
                  <a:srgbClr val="0F172A"/>
                </a:solidFill>
              </a:defRPr>
            </a:pPr>
            <a:r>
              <a:t>“When Every Second Counts, Silence is Not an Option.”</a:t>
            </a:r>
          </a:p>
          <a:p>
            <a:br/>
            <a:pPr algn="ctr">
              <a:defRPr sz="1600">
                <a:solidFill>
                  <a:srgbClr val="047857"/>
                </a:solidFill>
              </a:defRPr>
            </a:pPr>
            <a:r>
              <a:t>The software is ready. We respectfully request command endorsement</a:t>
            </a:r>
            <a:br/>
            <a:r>
              <a:t>and budget allocation for the official 10RCDG SENDER ID.</a:t>
            </a:r>
          </a:p>
          <a:p>
            <a:br/>
            <a:pPr algn="ctr">
              <a:defRPr sz="1400" b="1">
                <a:solidFill>
                  <a:srgbClr val="94A3B8"/>
                </a:solidFill>
              </a:defRPr>
            </a:pPr>
            <a:r>
              <a:t>Floor is open for Questions &amp; Live Testing.</a:t>
            </a:r>
          </a:p>
        </p:txBody>
      </p:sp>
      <p:sp>
        <p:nvSpPr>
          <p:cNvPr id="6" name="TextBox 5"/>
          <p:cNvSpPr txBox="1"/>
          <p:nvPr/>
        </p:nvSpPr>
        <p:spPr>
          <a:xfrm>
            <a:off x="1828800" y="4846320"/>
            <a:ext cx="8534095" cy="731520"/>
          </a:xfrm>
          <a:prstGeom prst="rect">
            <a:avLst/>
          </a:prstGeom>
          <a:noFill/>
        </p:spPr>
        <p:txBody>
          <a:bodyPr wrap="none">
            <a:spAutoFit/>
          </a:bodyPr>
          <a:lstStyle/>
          <a:p>
            <a:pPr algn="ctr">
              <a:defRPr sz="1200" b="1">
                <a:solidFill>
                  <a:srgbClr val="0F172A"/>
                </a:solidFill>
              </a:defRPr>
            </a:pPr>
            <a:r>
              <a:t>Javier Siliacay (aka vier from USTP Autotronics)  •  Lead Developer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