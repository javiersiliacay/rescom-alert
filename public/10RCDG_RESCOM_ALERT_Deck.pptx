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Good morning, Colonel, distinguished officers, and members of the 10RCDG Command Staff.</a:t>
            </a:r>
          </a:p>
          <a:p>
            <a:r>
              <a:t>Today, I am proud to present the RESCOM-ALERT System — a homegrown, modern tactical mass notification and emergency siren alert ecosystem built specifically for the rapid recall and mobilization of our reserve personnel.</a:t>
            </a:r>
          </a:p>
          <a:p>
            <a:r>
              <a:t>Today's briefing will outline the operational problem we solved, a live demonstration of the technology, and the budget justification for acquiring an Official Telco Alphanumeric Sender ID.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Sir, our current reliance on group chats and ordinary SMS poses three dangerous vulnerabilities during Red Alert conditions:</a:t>
            </a:r>
          </a:p>
          <a:p>
            <a:r>
              <a:t>1. Sleep and Silent Modes: Over 70% of reservists keep their phones on silent or Do Not Disturb. A standard SMS ding cannot wake a sleeping soldier.</a:t>
            </a:r>
          </a:p>
          <a:p>
            <a:r>
              <a:t>2. Infrastructure Fragility: Messenger and Viber collapse when data lines or electrical grids fail.</a:t>
            </a:r>
          </a:p>
          <a:p>
            <a:r>
              <a:t>3. Zero Headcount Visibility: Commanders blast an announcement into a chat and have no real-time telemetry on who actually received the mobilization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To solve this, we developed a dual-pillar system:</a:t>
            </a:r>
          </a:p>
          <a:p>
            <a:r>
              <a:t>Pillar 1 is our centralized Command Web Console where headquarters officers manage personnel, monitor rosters, and fire alerts.</a:t>
            </a:r>
          </a:p>
          <a:p>
            <a:r>
              <a:t>Pillar 2 is the Native Android Companion App installed on every reservist's phone. Even without internet, when an official SMS hits the phone, the app's native background service intercepts it, overrides all volume and DND settings, wakes up the screen, and sounds a persistent tactical siren until acknowledged.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how the native Android architecture guarantees 100% penetration:</a:t>
            </a:r>
          </a:p>
          <a:p>
            <a:r>
              <a:t>Even when the soldier's phone is locked, asleep, and in their pocket, the native Android SmsAlertReceiver listens at the OS level.</a:t>
            </a:r>
          </a:p>
          <a:p>
            <a:r>
              <a:t>It uses the Android ALARM_CLOCK category — the exact same privileged channel used by your morning clock alarm. It bypasses Silent, Mute, and Do Not Disturb, maximizes hardware volume, and forces the display on with the official 10RCDG emblem.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[PAUSE FOR LIVE DEMO]</a:t>
            </a:r>
          </a:p>
          <a:p>
            <a:r>
              <a:t>Sir, at this moment, I invite you to observe my test device. As you can see, this phone is currently muted and locked.</a:t>
            </a:r>
          </a:p>
          <a:p>
            <a:r>
              <a:t>From our Command Portal, I will now transmit a live drill alert...</a:t>
            </a:r>
          </a:p>
          <a:p>
            <a:r>
              <a:t>[FIRE SMS ALERT]</a:t>
            </a:r>
          </a:p>
          <a:p>
            <a:r>
              <a:t>As you can hear and see, the phone instantly wakes up, overrides the mute switch, displays the 10RCDG emblem, and sounds the tactical siren. The troop taps 'I Received This Order' to stop the alarm and register compliance.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Now, Sir, this brings us to the core objective of today's defense: securing budget for an Official Telco Alphanumeric SENDER ID.</a:t>
            </a:r>
          </a:p>
          <a:p>
            <a:r>
              <a:t>Currently, our proof-of-concept operates via a physical SIM gateway. While it proves the software works, Philippine NTC regulations mandate that telcos block all web links sent from personal SIMs, and SIMs are rate-limited to just a few messages per minute.</a:t>
            </a:r>
          </a:p>
          <a:p>
            <a:r>
              <a:t>With an official SENDER ID — such as '10RCDG' or 'RESCOM-PA' — our dispatches bypass all spam firewalls, deliver at 100 SMS per second, and bear the proud, official military header that troops trust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the budgetary roadmap, Sir.</a:t>
            </a:r>
          </a:p>
          <a:p>
            <a:r>
              <a:t>The software architecture itself is already 100% built and functional — there is zero development lag.</a:t>
            </a:r>
          </a:p>
          <a:p>
            <a:r>
              <a:t>The investment requested today is strictly for telco carrier onboarding: the one-time NTC/Telco Sender ID registration fee and a quarterly SMS allocation pool for operational exercises and real-world disaster activations.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Our rollout schedule is agile and immediate.</a:t>
            </a:r>
          </a:p>
          <a:p>
            <a:r>
              <a:t>Phase 1 is already finished and operating today.</a:t>
            </a:r>
          </a:p>
          <a:p>
            <a:r>
              <a:t>Upon funding approval, Phase 2 takes 2 to 3 weeks for carrier paperwork and SENDER ID whitelisting.</a:t>
            </a:r>
          </a:p>
          <a:p>
            <a:r>
              <a:t>By December, all Community Defense Centers under 10RCDG can be fully onboarded and drilled.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In closing, Colonel and members of the Command Staff: during severe weather disasters or urgent territorial defense mobilization, seconds save lives. We cannot afford to have critical orders sitting silently in a locked phone.</a:t>
            </a:r>
          </a:p>
          <a:p>
            <a:r>
              <a:t>RESCOM-ALERT ensures that every command reaches its target with audible force and instant accountability.</a:t>
            </a:r>
          </a:p>
          <a:p>
            <a:r>
              <a:t>Thank you very much, Sir/Ma'am. I am ready to answer any questions or demonstrate any part of the system.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731520"/>
            <a:ext cx="9448495" cy="5394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scom-emblem.jpg"/>
          <p:cNvPicPr>
            <a:picLocks noChangeAspect="1"/>
          </p:cNvPicPr>
          <p:nvPr/>
        </p:nvPicPr>
        <p:blipFill>
          <a:blip r:embed="rId2"/>
          <a:stretch>
            <a:fillRect/>
          </a:stretch>
        </p:blipFill>
        <p:spPr>
          <a:xfrm>
            <a:off x="5120640" y="1097280"/>
            <a:ext cx="914400" cy="914400"/>
          </a:xfrm>
          <a:prstGeom prst="rect">
            <a:avLst/>
          </a:prstGeom>
        </p:spPr>
      </p:pic>
      <p:pic>
        <p:nvPicPr>
          <p:cNvPr id="5" name="Picture 4" descr="rescom-pa-seal.png"/>
          <p:cNvPicPr>
            <a:picLocks noChangeAspect="1"/>
          </p:cNvPicPr>
          <p:nvPr/>
        </p:nvPicPr>
        <p:blipFill>
          <a:blip r:embed="rId3"/>
          <a:stretch>
            <a:fillRect/>
          </a:stretch>
        </p:blipFill>
        <p:spPr>
          <a:xfrm>
            <a:off x="6217920" y="1097280"/>
            <a:ext cx="914400" cy="914400"/>
          </a:xfrm>
          <a:prstGeom prst="rect">
            <a:avLst/>
          </a:prstGeom>
        </p:spPr>
      </p:pic>
      <p:sp>
        <p:nvSpPr>
          <p:cNvPr id="6" name="Rounded Rectangle 5"/>
          <p:cNvSpPr/>
          <p:nvPr/>
        </p:nvSpPr>
        <p:spPr>
          <a:xfrm>
            <a:off x="3931920" y="2148840"/>
            <a:ext cx="4297680" cy="3474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47857"/>
                </a:solidFill>
              </a:defRPr>
            </a:pPr>
            <a:r>
              <a:t>OFFICIAL MILITARY MOBILIZATION SYSTEM</a:t>
            </a:r>
          </a:p>
        </p:txBody>
      </p:sp>
      <p:sp>
        <p:nvSpPr>
          <p:cNvPr id="7" name="TextBox 6"/>
          <p:cNvSpPr txBox="1"/>
          <p:nvPr/>
        </p:nvSpPr>
        <p:spPr>
          <a:xfrm>
            <a:off x="1828800" y="2606040"/>
            <a:ext cx="8534095" cy="2011680"/>
          </a:xfrm>
          <a:prstGeom prst="rect">
            <a:avLst/>
          </a:prstGeom>
          <a:noFill/>
        </p:spPr>
        <p:txBody>
          <a:bodyPr wrap="square">
            <a:spAutoFit/>
          </a:bodyPr>
          <a:lstStyle/>
          <a:p>
            <a:pPr algn="ctr">
              <a:defRPr sz="3800" b="1">
                <a:solidFill>
                  <a:srgbClr val="0F172A"/>
                </a:solidFill>
              </a:defRPr>
            </a:pPr>
            <a:r>
              <a:t>10RCDG RESCOM-ALERT</a:t>
            </a:r>
          </a:p>
          <a:p>
            <a:pPr algn="ctr">
              <a:defRPr sz="1600">
                <a:solidFill>
                  <a:srgbClr val="64748B"/>
                </a:solidFill>
              </a:defRPr>
            </a:pPr>
            <a:r>
              <a:t>Tactical Mass Emergency Siren &amp; Rapid Mobilization Notification Architecture</a:t>
            </a:r>
          </a:p>
          <a:p>
            <a:br/>
            <a:pPr algn="ctr">
              <a:defRPr sz="1300" b="1">
                <a:solidFill>
                  <a:srgbClr val="047857"/>
                </a:solidFill>
              </a:defRPr>
            </a:pPr>
            <a:r>
              <a:t>Technical Evaluation &amp; Budget Defense for Official Alphanumeric SENDER ID Implementation</a:t>
            </a:r>
          </a:p>
        </p:txBody>
      </p:sp>
      <p:sp>
        <p:nvSpPr>
          <p:cNvPr id="8" name="Rounded Rectangle 7"/>
          <p:cNvSpPr/>
          <p:nvPr/>
        </p:nvSpPr>
        <p:spPr>
          <a:xfrm>
            <a:off x="2926080" y="4892040"/>
            <a:ext cx="6309360"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F172A"/>
                </a:solidFill>
              </a:defRPr>
            </a:pPr>
            <a:r>
              <a:t>Presented by: Javier Siliacay (aka vier from USTP Autotronics)</a:t>
            </a:r>
          </a:p>
          <a:p>
            <a:pPr algn="ctr">
              <a:defRPr sz="1050">
                <a:solidFill>
                  <a:srgbClr val="64748B"/>
                </a:solidFill>
              </a:defRPr>
            </a:pPr>
            <a:r>
              <a:t>Solo Systems Architect &amp; Full-Stack Developer  •  October 2026</a:t>
            </a:r>
          </a:p>
        </p:txBody>
      </p:sp>
      <p:sp>
        <p:nvSpPr>
          <p:cNvPr id="9" name="TextBox 8"/>
          <p:cNvSpPr txBox="1"/>
          <p:nvPr/>
        </p:nvSpPr>
        <p:spPr>
          <a:xfrm>
            <a:off x="731520" y="6309360"/>
            <a:ext cx="5029200" cy="320040"/>
          </a:xfrm>
          <a:prstGeom prst="rect">
            <a:avLst/>
          </a:prstGeom>
          <a:noFill/>
        </p:spPr>
        <p:txBody>
          <a:bodyPr wrap="none" lIns="0" tIns="0" rIns="0" bIns="0">
            <a:spAutoFit/>
          </a:bodyPr>
          <a:lstStyle/>
          <a:p>
            <a:pPr>
              <a:defRPr sz="950">
                <a:solidFill>
                  <a:srgbClr val="64748B"/>
                </a:solidFill>
              </a:defRPr>
            </a:pPr>
            <a:r>
              <a:t>10th Regional Community Defense Group  •  Reserve Command, Philippine Army</a:t>
            </a:r>
          </a:p>
        </p:txBody>
      </p:sp>
      <p:sp>
        <p:nvSpPr>
          <p:cNvPr id="10" name="TextBox 9"/>
          <p:cNvSpPr txBox="1"/>
          <p:nvPr/>
        </p:nvSpPr>
        <p:spPr>
          <a:xfrm>
            <a:off x="4572000" y="6309360"/>
            <a:ext cx="4114800" cy="320040"/>
          </a:xfrm>
          <a:prstGeom prst="rect">
            <a:avLst/>
          </a:prstGeom>
          <a:noFill/>
        </p:spPr>
        <p:txBody>
          <a:bodyPr wrap="none" lIns="0" tIns="0" rIns="0" bIns="0">
            <a:spAutoFit/>
          </a:bodyPr>
          <a:lstStyle/>
          <a:p>
            <a:pPr algn="ctr">
              <a:defRPr sz="950" b="1">
                <a:solidFill>
                  <a:srgbClr val="94A3B8"/>
                </a:solidFill>
              </a:defRPr>
            </a:pPr>
            <a:r>
              <a:t>// RESTRICTED — TECHNICAL BRIEFING &amp; COMMAND DEFENSE //</a:t>
            </a:r>
          </a:p>
        </p:txBody>
      </p:sp>
      <p:sp>
        <p:nvSpPr>
          <p:cNvPr id="11" name="Rounded Rectangle 10"/>
          <p:cNvSpPr/>
          <p:nvPr/>
        </p:nvSpPr>
        <p:spPr>
          <a:xfrm>
            <a:off x="10820095" y="6263640"/>
            <a:ext cx="6400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4748B"/>
                </a:solidFill>
              </a:defRPr>
            </a:pPr>
            <a:r>
              <a:t>01 / 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  OPERATIONAL PROBLEM</a:t>
            </a:r>
          </a:p>
        </p:txBody>
      </p:sp>
      <p:sp>
        <p:nvSpPr>
          <p:cNvPr id="4" name="TextBox 3"/>
          <p:cNvSpPr txBox="1"/>
          <p:nvPr/>
        </p:nvSpPr>
        <p:spPr>
          <a:xfrm>
            <a:off x="731520" y="749808"/>
            <a:ext cx="8961120" cy="594360"/>
          </a:xfrm>
          <a:prstGeom prst="rect">
            <a:avLst/>
          </a:prstGeom>
          <a:noFill/>
        </p:spPr>
        <p:txBody>
          <a:bodyPr wrap="none" lIns="0" tIns="0" rIns="0" bIns="0">
            <a:spAutoFit/>
          </a:bodyPr>
          <a:lstStyle/>
          <a:p>
            <a:pPr>
              <a:defRPr sz="2400" b="1">
                <a:solidFill>
                  <a:srgbClr val="0F172A"/>
                </a:solidFill>
              </a:defRPr>
            </a:pPr>
            <a:r>
              <a:t>The Critical Operational Gap in Personnel Recall</a:t>
            </a:r>
          </a:p>
        </p:txBody>
      </p:sp>
      <p:pic>
        <p:nvPicPr>
          <p:cNvPr id="5" name="Picture 4" descr="rescom-emblem.jpg"/>
          <p:cNvPicPr>
            <a:picLocks noChangeAspect="1"/>
          </p:cNvPicPr>
          <p:nvPr/>
        </p:nvPicPr>
        <p:blipFill>
          <a:blip r:embed="rId2"/>
          <a:stretch>
            <a:fillRect/>
          </a:stretch>
        </p:blipFill>
        <p:spPr>
          <a:xfrm>
            <a:off x="10972800" y="365760"/>
            <a:ext cx="594360" cy="594360"/>
          </a:xfrm>
          <a:prstGeom prst="rect">
            <a:avLst/>
          </a:prstGeom>
        </p:spPr>
      </p:pic>
      <p:sp>
        <p:nvSpPr>
          <p:cNvPr id="6" name="TextBox 5"/>
          <p:cNvSpPr txBox="1"/>
          <p:nvPr/>
        </p:nvSpPr>
        <p:spPr>
          <a:xfrm>
            <a:off x="9326880" y="384048"/>
            <a:ext cx="1554480" cy="548640"/>
          </a:xfrm>
          <a:prstGeom prst="rect">
            <a:avLst/>
          </a:prstGeom>
          <a:noFill/>
        </p:spPr>
        <p:txBody>
          <a:bodyPr wrap="none" lIns="0" tIns="0" rIns="0" bIns="0">
            <a:spAutoFit/>
          </a:bodyPr>
          <a:lstStyle/>
          <a:p>
            <a:pPr algn="r">
              <a:defRPr sz="1100" b="1">
                <a:solidFill>
                  <a:srgbClr val="065F46"/>
                </a:solidFill>
              </a:defRPr>
            </a:pPr>
            <a:r>
              <a:t>10RCDG RESCOM</a:t>
            </a:r>
          </a:p>
          <a:p>
            <a:pPr algn="r">
              <a:defRPr sz="900">
                <a:solidFill>
                  <a:srgbClr val="64748B"/>
                </a:solidFill>
              </a:defRPr>
            </a:pPr>
            <a:r>
              <a:t>PHILIPPINE ARMY</a:t>
            </a:r>
          </a:p>
        </p:txBody>
      </p:sp>
      <p:sp>
        <p:nvSpPr>
          <p:cNvPr id="7" name="Rectangle 6"/>
          <p:cNvSpPr/>
          <p:nvPr/>
        </p:nvSpPr>
        <p:spPr>
          <a:xfrm>
            <a:off x="731520" y="13898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09360"/>
            <a:ext cx="5029200" cy="320040"/>
          </a:xfrm>
          <a:prstGeom prst="rect">
            <a:avLst/>
          </a:prstGeom>
          <a:noFill/>
        </p:spPr>
        <p:txBody>
          <a:bodyPr wrap="none" lIns="0" tIns="0" rIns="0" bIns="0">
            <a:spAutoFit/>
          </a:bodyPr>
          <a:lstStyle/>
          <a:p>
            <a:pPr>
              <a:defRPr sz="950">
                <a:solidFill>
                  <a:srgbClr val="64748B"/>
                </a:solidFill>
              </a:defRPr>
            </a:pPr>
            <a:r>
              <a:t>10th Regional Community Defense Group  •  Reserve Command, Philippine Army</a:t>
            </a:r>
          </a:p>
        </p:txBody>
      </p:sp>
      <p:sp>
        <p:nvSpPr>
          <p:cNvPr id="9" name="TextBox 8"/>
          <p:cNvSpPr txBox="1"/>
          <p:nvPr/>
        </p:nvSpPr>
        <p:spPr>
          <a:xfrm>
            <a:off x="4572000" y="6309360"/>
            <a:ext cx="4114800" cy="320040"/>
          </a:xfrm>
          <a:prstGeom prst="rect">
            <a:avLst/>
          </a:prstGeom>
          <a:noFill/>
        </p:spPr>
        <p:txBody>
          <a:bodyPr wrap="none" lIns="0" tIns="0" rIns="0" bIns="0">
            <a:spAutoFit/>
          </a:bodyPr>
          <a:lstStyle/>
          <a:p>
            <a:pPr algn="ctr">
              <a:defRPr sz="950" b="1">
                <a:solidFill>
                  <a:srgbClr val="94A3B8"/>
                </a:solidFill>
              </a:defRPr>
            </a:pPr>
            <a:r>
              <a:t>// RESTRICTED — TECHNICAL BRIEFING &amp; COMMAND DEFENSE //</a:t>
            </a:r>
          </a:p>
        </p:txBody>
      </p:sp>
      <p:sp>
        <p:nvSpPr>
          <p:cNvPr id="10" name="Rounded Rectangle 9"/>
          <p:cNvSpPr/>
          <p:nvPr/>
        </p:nvSpPr>
        <p:spPr>
          <a:xfrm>
            <a:off x="10820095" y="6263640"/>
            <a:ext cx="6400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4748B"/>
                </a:solidFill>
              </a:defRPr>
            </a:pPr>
            <a:r>
              <a:t>02 / 09</a:t>
            </a:r>
          </a:p>
        </p:txBody>
      </p:sp>
      <p:sp>
        <p:nvSpPr>
          <p:cNvPr id="11" name="Rounded Rectangle 10"/>
          <p:cNvSpPr/>
          <p:nvPr/>
        </p:nvSpPr>
        <p:spPr>
          <a:xfrm>
            <a:off x="731520" y="164592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4400" y="1828800"/>
            <a:ext cx="2962656" cy="59436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B91C1C"/>
                </a:solidFill>
              </a:defRPr>
            </a:pPr>
            <a:r>
              <a:t>74% SILENT PHONES</a:t>
            </a:r>
          </a:p>
        </p:txBody>
      </p:sp>
      <p:sp>
        <p:nvSpPr>
          <p:cNvPr id="13" name="TextBox 12"/>
          <p:cNvSpPr txBox="1"/>
          <p:nvPr/>
        </p:nvSpPr>
        <p:spPr>
          <a:xfrm>
            <a:off x="960120" y="2560320"/>
            <a:ext cx="2871216" cy="3291840"/>
          </a:xfrm>
          <a:prstGeom prst="rect">
            <a:avLst/>
          </a:prstGeom>
          <a:noFill/>
        </p:spPr>
        <p:txBody>
          <a:bodyPr wrap="square">
            <a:spAutoFit/>
          </a:bodyPr>
          <a:lstStyle/>
          <a:p>
            <a:pPr>
              <a:defRPr sz="1300" b="1">
                <a:solidFill>
                  <a:srgbClr val="0F172A"/>
                </a:solidFill>
              </a:defRPr>
            </a:pPr>
            <a:r>
              <a:t>Critical Orders Missed During Sleep &amp; Duty</a:t>
            </a:r>
          </a:p>
          <a:p>
            <a:br/>
            <a:pPr>
              <a:defRPr sz="1150">
                <a:solidFill>
                  <a:srgbClr val="334155"/>
                </a:solidFill>
              </a:defRPr>
            </a:pPr>
            <a:r>
              <a:t>Standard text messages and chat pings generate a subtle 1-second chime.</a:t>
            </a:r>
            <a:br/>
            <a:br/>
            <a:r>
              <a:t>At night, during emergencies, or in noisy work environments, personnel sleep through or fail to notice mobilization alerts.</a:t>
            </a:r>
          </a:p>
        </p:txBody>
      </p:sp>
      <p:sp>
        <p:nvSpPr>
          <p:cNvPr id="14" name="Rounded Rectangle 13"/>
          <p:cNvSpPr/>
          <p:nvPr/>
        </p:nvSpPr>
        <p:spPr>
          <a:xfrm>
            <a:off x="4425696" y="164592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608576" y="1828800"/>
            <a:ext cx="2962656" cy="594360"/>
          </a:xfrm>
          <a:prstGeom prst="round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97706"/>
                </a:solidFill>
              </a:defRPr>
            </a:pPr>
            <a:r>
              <a:t>DATA DEPENDENCY</a:t>
            </a:r>
          </a:p>
        </p:txBody>
      </p:sp>
      <p:sp>
        <p:nvSpPr>
          <p:cNvPr id="16" name="TextBox 15"/>
          <p:cNvSpPr txBox="1"/>
          <p:nvPr/>
        </p:nvSpPr>
        <p:spPr>
          <a:xfrm>
            <a:off x="4654296" y="2560320"/>
            <a:ext cx="2871216" cy="3291840"/>
          </a:xfrm>
          <a:prstGeom prst="rect">
            <a:avLst/>
          </a:prstGeom>
          <a:noFill/>
        </p:spPr>
        <p:txBody>
          <a:bodyPr wrap="square">
            <a:spAutoFit/>
          </a:bodyPr>
          <a:lstStyle/>
          <a:p>
            <a:pPr>
              <a:defRPr sz="1300" b="1">
                <a:solidFill>
                  <a:srgbClr val="0F172A"/>
                </a:solidFill>
              </a:defRPr>
            </a:pPr>
            <a:r>
              <a:t>Chat Apps Fail During Blackouts &amp; Disasters</a:t>
            </a:r>
          </a:p>
          <a:p>
            <a:br/>
            <a:pPr>
              <a:defRPr sz="1150">
                <a:solidFill>
                  <a:srgbClr val="334155"/>
                </a:solidFill>
              </a:defRPr>
            </a:pPr>
            <a:r>
              <a:t>Facebook Messenger and Viber require active mobile data or Wi-Fi.</a:t>
            </a:r>
            <a:br/>
            <a:br/>
            <a:r>
              <a:t>During severe weather or earthquakes, cell towers lose data bandwidth, leaving troop group chats completely stranded.</a:t>
            </a:r>
          </a:p>
        </p:txBody>
      </p:sp>
      <p:sp>
        <p:nvSpPr>
          <p:cNvPr id="17" name="Rounded Rectangle 16"/>
          <p:cNvSpPr/>
          <p:nvPr/>
        </p:nvSpPr>
        <p:spPr>
          <a:xfrm>
            <a:off x="8119872" y="164592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302752" y="1828800"/>
            <a:ext cx="2962656"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D4ED8"/>
                </a:solidFill>
              </a:defRPr>
            </a:pPr>
            <a:r>
              <a:t>ZERO HEADCOUNT</a:t>
            </a:r>
          </a:p>
        </p:txBody>
      </p:sp>
      <p:sp>
        <p:nvSpPr>
          <p:cNvPr id="19" name="TextBox 18"/>
          <p:cNvSpPr txBox="1"/>
          <p:nvPr/>
        </p:nvSpPr>
        <p:spPr>
          <a:xfrm>
            <a:off x="8348472" y="2560320"/>
            <a:ext cx="2871216" cy="3291840"/>
          </a:xfrm>
          <a:prstGeom prst="rect">
            <a:avLst/>
          </a:prstGeom>
          <a:noFill/>
        </p:spPr>
        <p:txBody>
          <a:bodyPr wrap="square">
            <a:spAutoFit/>
          </a:bodyPr>
          <a:lstStyle/>
          <a:p>
            <a:pPr>
              <a:defRPr sz="1300" b="1">
                <a:solidFill>
                  <a:srgbClr val="0F172A"/>
                </a:solidFill>
              </a:defRPr>
            </a:pPr>
            <a:r>
              <a:t>Commanders Kept in the Dark</a:t>
            </a:r>
          </a:p>
          <a:p>
            <a:br/>
            <a:pPr>
              <a:defRPr sz="1150">
                <a:solidFill>
                  <a:srgbClr val="334155"/>
                </a:solidFill>
              </a:defRPr>
            </a:pPr>
            <a:r>
              <a:t>Traditional SMS blasts offer zero acknowledgment tracking.</a:t>
            </a:r>
            <a:br/>
            <a:br/>
            <a:r>
              <a:t>Commanders cannot accurately tally how many troops are awake, armed with orders, and actively en route to Headquarters.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  SYSTEM SOLUTION</a:t>
            </a:r>
          </a:p>
        </p:txBody>
      </p:sp>
      <p:sp>
        <p:nvSpPr>
          <p:cNvPr id="4" name="TextBox 3"/>
          <p:cNvSpPr txBox="1"/>
          <p:nvPr/>
        </p:nvSpPr>
        <p:spPr>
          <a:xfrm>
            <a:off x="731520" y="749808"/>
            <a:ext cx="8961120" cy="594360"/>
          </a:xfrm>
          <a:prstGeom prst="rect">
            <a:avLst/>
          </a:prstGeom>
          <a:noFill/>
        </p:spPr>
        <p:txBody>
          <a:bodyPr wrap="none" lIns="0" tIns="0" rIns="0" bIns="0">
            <a:spAutoFit/>
          </a:bodyPr>
          <a:lstStyle/>
          <a:p>
            <a:pPr>
              <a:defRPr sz="2400" b="1">
                <a:solidFill>
                  <a:srgbClr val="0F172A"/>
                </a:solidFill>
              </a:defRPr>
            </a:pPr>
            <a:r>
              <a:t>The 2-Pillar Tactical Architecture</a:t>
            </a:r>
          </a:p>
        </p:txBody>
      </p:sp>
      <p:pic>
        <p:nvPicPr>
          <p:cNvPr id="5" name="Picture 4" descr="rescom-emblem.jpg"/>
          <p:cNvPicPr>
            <a:picLocks noChangeAspect="1"/>
          </p:cNvPicPr>
          <p:nvPr/>
        </p:nvPicPr>
        <p:blipFill>
          <a:blip r:embed="rId2"/>
          <a:stretch>
            <a:fillRect/>
          </a:stretch>
        </p:blipFill>
        <p:spPr>
          <a:xfrm>
            <a:off x="10972800" y="365760"/>
            <a:ext cx="594360" cy="594360"/>
          </a:xfrm>
          <a:prstGeom prst="rect">
            <a:avLst/>
          </a:prstGeom>
        </p:spPr>
      </p:pic>
      <p:sp>
        <p:nvSpPr>
          <p:cNvPr id="6" name="TextBox 5"/>
          <p:cNvSpPr txBox="1"/>
          <p:nvPr/>
        </p:nvSpPr>
        <p:spPr>
          <a:xfrm>
            <a:off x="9326880" y="384048"/>
            <a:ext cx="1554480" cy="548640"/>
          </a:xfrm>
          <a:prstGeom prst="rect">
            <a:avLst/>
          </a:prstGeom>
          <a:noFill/>
        </p:spPr>
        <p:txBody>
          <a:bodyPr wrap="none" lIns="0" tIns="0" rIns="0" bIns="0">
            <a:spAutoFit/>
          </a:bodyPr>
          <a:lstStyle/>
          <a:p>
            <a:pPr algn="r">
              <a:defRPr sz="1100" b="1">
                <a:solidFill>
                  <a:srgbClr val="065F46"/>
                </a:solidFill>
              </a:defRPr>
            </a:pPr>
            <a:r>
              <a:t>10RCDG RESCOM</a:t>
            </a:r>
          </a:p>
          <a:p>
            <a:pPr algn="r">
              <a:defRPr sz="900">
                <a:solidFill>
                  <a:srgbClr val="64748B"/>
                </a:solidFill>
              </a:defRPr>
            </a:pPr>
            <a:r>
              <a:t>PHILIPPINE ARMY</a:t>
            </a:r>
          </a:p>
        </p:txBody>
      </p:sp>
      <p:sp>
        <p:nvSpPr>
          <p:cNvPr id="7" name="Rectangle 6"/>
          <p:cNvSpPr/>
          <p:nvPr/>
        </p:nvSpPr>
        <p:spPr>
          <a:xfrm>
            <a:off x="731520" y="13898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09360"/>
            <a:ext cx="5029200" cy="320040"/>
          </a:xfrm>
          <a:prstGeom prst="rect">
            <a:avLst/>
          </a:prstGeom>
          <a:noFill/>
        </p:spPr>
        <p:txBody>
          <a:bodyPr wrap="none" lIns="0" tIns="0" rIns="0" bIns="0">
            <a:spAutoFit/>
          </a:bodyPr>
          <a:lstStyle/>
          <a:p>
            <a:pPr>
              <a:defRPr sz="950">
                <a:solidFill>
                  <a:srgbClr val="64748B"/>
                </a:solidFill>
              </a:defRPr>
            </a:pPr>
            <a:r>
              <a:t>10th Regional Community Defense Group  •  Reserve Command, Philippine Army</a:t>
            </a:r>
          </a:p>
        </p:txBody>
      </p:sp>
      <p:sp>
        <p:nvSpPr>
          <p:cNvPr id="9" name="TextBox 8"/>
          <p:cNvSpPr txBox="1"/>
          <p:nvPr/>
        </p:nvSpPr>
        <p:spPr>
          <a:xfrm>
            <a:off x="4572000" y="6309360"/>
            <a:ext cx="4114800" cy="320040"/>
          </a:xfrm>
          <a:prstGeom prst="rect">
            <a:avLst/>
          </a:prstGeom>
          <a:noFill/>
        </p:spPr>
        <p:txBody>
          <a:bodyPr wrap="none" lIns="0" tIns="0" rIns="0" bIns="0">
            <a:spAutoFit/>
          </a:bodyPr>
          <a:lstStyle/>
          <a:p>
            <a:pPr algn="ctr">
              <a:defRPr sz="950" b="1">
                <a:solidFill>
                  <a:srgbClr val="94A3B8"/>
                </a:solidFill>
              </a:defRPr>
            </a:pPr>
            <a:r>
              <a:t>// RESTRICTED — TECHNICAL BRIEFING &amp; COMMAND DEFENSE //</a:t>
            </a:r>
          </a:p>
        </p:txBody>
      </p:sp>
      <p:sp>
        <p:nvSpPr>
          <p:cNvPr id="10" name="Rounded Rectangle 9"/>
          <p:cNvSpPr/>
          <p:nvPr/>
        </p:nvSpPr>
        <p:spPr>
          <a:xfrm>
            <a:off x="10820095" y="6263640"/>
            <a:ext cx="6400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4748B"/>
                </a:solidFill>
              </a:defRPr>
            </a:pPr>
            <a:r>
              <a:t>03 / 09</a:t>
            </a:r>
          </a:p>
        </p:txBody>
      </p:sp>
      <p:sp>
        <p:nvSpPr>
          <p:cNvPr id="11" name="Rounded Rectangle 10"/>
          <p:cNvSpPr/>
          <p:nvPr/>
        </p:nvSpPr>
        <p:spPr>
          <a:xfrm>
            <a:off x="731520" y="1645920"/>
            <a:ext cx="5175504"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5840" y="1920240"/>
            <a:ext cx="4626864"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65F46"/>
                </a:solidFill>
              </a:defRPr>
            </a:pPr>
            <a:r>
              <a:t>PILLAR 1: COMMAND WEB CONSOLE</a:t>
            </a:r>
          </a:p>
        </p:txBody>
      </p:sp>
      <p:sp>
        <p:nvSpPr>
          <p:cNvPr id="13" name="TextBox 12"/>
          <p:cNvSpPr txBox="1"/>
          <p:nvPr/>
        </p:nvSpPr>
        <p:spPr>
          <a:xfrm>
            <a:off x="1097280" y="2651760"/>
            <a:ext cx="4443984" cy="3200400"/>
          </a:xfrm>
          <a:prstGeom prst="rect">
            <a:avLst/>
          </a:prstGeom>
          <a:noFill/>
        </p:spPr>
        <p:txBody>
          <a:bodyPr wrap="square">
            <a:spAutoFit/>
          </a:bodyPr>
          <a:lstStyle/>
          <a:p>
            <a:pPr>
              <a:defRPr sz="1300" b="1">
                <a:solidFill>
                  <a:srgbClr val="0F172A"/>
                </a:solidFill>
              </a:defRPr>
            </a:pPr>
            <a:r>
              <a:t>Mission Control for Officers &amp; Operations Staff</a:t>
            </a:r>
            <a:br/>
          </a:p>
          <a:p>
            <a:pPr>
              <a:defRPr sz="1150">
                <a:solidFill>
                  <a:srgbClr val="334155"/>
                </a:solidFill>
              </a:defRPr>
            </a:pPr>
            <a:r>
              <a:t>✓  Real-time Reservist Roster segmented by CDC Units (1001st, 1002nd, etc.)</a:t>
            </a:r>
          </a:p>
          <a:p>
            <a:pPr>
              <a:defRPr sz="1150">
                <a:solidFill>
                  <a:srgbClr val="334155"/>
                </a:solidFill>
              </a:defRPr>
            </a:pPr>
            <a:r>
              <a:t>✓  Instant 1-Click Red Alert &amp; Disaster Mobilization Siren Dispatch</a:t>
            </a:r>
          </a:p>
          <a:p>
            <a:pPr>
              <a:defRPr sz="1150">
                <a:solidFill>
                  <a:srgbClr val="334155"/>
                </a:solidFill>
              </a:defRPr>
            </a:pPr>
            <a:r>
              <a:t>✓  Passcode-secured Self-Enlistment with Command Review &amp; Approval</a:t>
            </a:r>
          </a:p>
          <a:p>
            <a:pPr>
              <a:defRPr sz="1150">
                <a:solidFill>
                  <a:srgbClr val="334155"/>
                </a:solidFill>
              </a:defRPr>
            </a:pPr>
            <a:r>
              <a:t>✓  Live Download Telemetry with 1-phone = 1-headcount deduplication</a:t>
            </a:r>
          </a:p>
        </p:txBody>
      </p:sp>
      <p:sp>
        <p:nvSpPr>
          <p:cNvPr id="14" name="Rounded Rectangle 13"/>
          <p:cNvSpPr/>
          <p:nvPr/>
        </p:nvSpPr>
        <p:spPr>
          <a:xfrm>
            <a:off x="6272784" y="1645920"/>
            <a:ext cx="5175504"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47104" y="1920240"/>
            <a:ext cx="4626864" cy="5486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D4ED8"/>
                </a:solidFill>
              </a:defRPr>
            </a:pPr>
            <a:r>
              <a:t>PILLAR 2: SOLDIER MOBILE ENGINE</a:t>
            </a:r>
          </a:p>
        </p:txBody>
      </p:sp>
      <p:sp>
        <p:nvSpPr>
          <p:cNvPr id="16" name="TextBox 15"/>
          <p:cNvSpPr txBox="1"/>
          <p:nvPr/>
        </p:nvSpPr>
        <p:spPr>
          <a:xfrm>
            <a:off x="6638544" y="2651760"/>
            <a:ext cx="4443984" cy="3200400"/>
          </a:xfrm>
          <a:prstGeom prst="rect">
            <a:avLst/>
          </a:prstGeom>
          <a:noFill/>
        </p:spPr>
        <p:txBody>
          <a:bodyPr wrap="square">
            <a:spAutoFit/>
          </a:bodyPr>
          <a:lstStyle/>
          <a:p>
            <a:pPr>
              <a:defRPr sz="1300" b="1">
                <a:solidFill>
                  <a:srgbClr val="0F172A"/>
                </a:solidFill>
              </a:defRPr>
            </a:pPr>
            <a:r>
              <a:t>Tactical Companion App on Android (Offline-Ready)</a:t>
            </a:r>
            <a:br/>
          </a:p>
          <a:p>
            <a:pPr>
              <a:defRPr sz="1150">
                <a:solidFill>
                  <a:srgbClr val="334155"/>
                </a:solidFill>
              </a:defRPr>
            </a:pPr>
            <a:r>
              <a:t>✓  Hardware USAGE_ALARM override: sounds siren at max volume on Silent/Mute/DND</a:t>
            </a:r>
          </a:p>
          <a:p>
            <a:pPr>
              <a:defRPr sz="1150">
                <a:solidFill>
                  <a:srgbClr val="334155"/>
                </a:solidFill>
              </a:defRPr>
            </a:pPr>
            <a:r>
              <a:t>✓  Full-screen lockscreen takeover: turns on device screen with 10RCDG emblem</a:t>
            </a:r>
          </a:p>
          <a:p>
            <a:pPr>
              <a:defRPr sz="1150">
                <a:solidFill>
                  <a:srgbClr val="334155"/>
                </a:solidFill>
              </a:defRPr>
            </a:pPr>
            <a:r>
              <a:t>✓  Works 100% offline via SMS payload (Zero internet data required)</a:t>
            </a:r>
          </a:p>
          <a:p>
            <a:pPr>
              <a:defRPr sz="1150">
                <a:solidFill>
                  <a:srgbClr val="334155"/>
                </a:solidFill>
              </a:defRPr>
            </a:pPr>
            <a:r>
              <a:t>✓  One-tap acknowledgment: 'I RECEIVED THIS ORDER' receipt confirmation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  TECHNICAL ARCHITECTURE</a:t>
            </a:r>
          </a:p>
        </p:txBody>
      </p:sp>
      <p:sp>
        <p:nvSpPr>
          <p:cNvPr id="4" name="TextBox 3"/>
          <p:cNvSpPr txBox="1"/>
          <p:nvPr/>
        </p:nvSpPr>
        <p:spPr>
          <a:xfrm>
            <a:off x="731520" y="749808"/>
            <a:ext cx="8961120" cy="594360"/>
          </a:xfrm>
          <a:prstGeom prst="rect">
            <a:avLst/>
          </a:prstGeom>
          <a:noFill/>
        </p:spPr>
        <p:txBody>
          <a:bodyPr wrap="none" lIns="0" tIns="0" rIns="0" bIns="0">
            <a:spAutoFit/>
          </a:bodyPr>
          <a:lstStyle/>
          <a:p>
            <a:pPr>
              <a:defRPr sz="2400" b="1">
                <a:solidFill>
                  <a:srgbClr val="0F172A"/>
                </a:solidFill>
              </a:defRPr>
            </a:pPr>
            <a:r>
              <a:t>Under the Hood: Native Alarm &amp; Audio Override</a:t>
            </a:r>
          </a:p>
        </p:txBody>
      </p:sp>
      <p:pic>
        <p:nvPicPr>
          <p:cNvPr id="5" name="Picture 4" descr="rescom-emblem.jpg"/>
          <p:cNvPicPr>
            <a:picLocks noChangeAspect="1"/>
          </p:cNvPicPr>
          <p:nvPr/>
        </p:nvPicPr>
        <p:blipFill>
          <a:blip r:embed="rId2"/>
          <a:stretch>
            <a:fillRect/>
          </a:stretch>
        </p:blipFill>
        <p:spPr>
          <a:xfrm>
            <a:off x="10972800" y="365760"/>
            <a:ext cx="594360" cy="594360"/>
          </a:xfrm>
          <a:prstGeom prst="rect">
            <a:avLst/>
          </a:prstGeom>
        </p:spPr>
      </p:pic>
      <p:sp>
        <p:nvSpPr>
          <p:cNvPr id="6" name="TextBox 5"/>
          <p:cNvSpPr txBox="1"/>
          <p:nvPr/>
        </p:nvSpPr>
        <p:spPr>
          <a:xfrm>
            <a:off x="9326880" y="384048"/>
            <a:ext cx="1554480" cy="548640"/>
          </a:xfrm>
          <a:prstGeom prst="rect">
            <a:avLst/>
          </a:prstGeom>
          <a:noFill/>
        </p:spPr>
        <p:txBody>
          <a:bodyPr wrap="none" lIns="0" tIns="0" rIns="0" bIns="0">
            <a:spAutoFit/>
          </a:bodyPr>
          <a:lstStyle/>
          <a:p>
            <a:pPr algn="r">
              <a:defRPr sz="1100" b="1">
                <a:solidFill>
                  <a:srgbClr val="065F46"/>
                </a:solidFill>
              </a:defRPr>
            </a:pPr>
            <a:r>
              <a:t>10RCDG RESCOM</a:t>
            </a:r>
          </a:p>
          <a:p>
            <a:pPr algn="r">
              <a:defRPr sz="900">
                <a:solidFill>
                  <a:srgbClr val="64748B"/>
                </a:solidFill>
              </a:defRPr>
            </a:pPr>
            <a:r>
              <a:t>PHILIPPINE ARMY</a:t>
            </a:r>
          </a:p>
        </p:txBody>
      </p:sp>
      <p:sp>
        <p:nvSpPr>
          <p:cNvPr id="7" name="Rectangle 6"/>
          <p:cNvSpPr/>
          <p:nvPr/>
        </p:nvSpPr>
        <p:spPr>
          <a:xfrm>
            <a:off x="731520" y="13898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09360"/>
            <a:ext cx="5029200" cy="320040"/>
          </a:xfrm>
          <a:prstGeom prst="rect">
            <a:avLst/>
          </a:prstGeom>
          <a:noFill/>
        </p:spPr>
        <p:txBody>
          <a:bodyPr wrap="none" lIns="0" tIns="0" rIns="0" bIns="0">
            <a:spAutoFit/>
          </a:bodyPr>
          <a:lstStyle/>
          <a:p>
            <a:pPr>
              <a:defRPr sz="950">
                <a:solidFill>
                  <a:srgbClr val="64748B"/>
                </a:solidFill>
              </a:defRPr>
            </a:pPr>
            <a:r>
              <a:t>10th Regional Community Defense Group  •  Reserve Command, Philippine Army</a:t>
            </a:r>
          </a:p>
        </p:txBody>
      </p:sp>
      <p:sp>
        <p:nvSpPr>
          <p:cNvPr id="9" name="TextBox 8"/>
          <p:cNvSpPr txBox="1"/>
          <p:nvPr/>
        </p:nvSpPr>
        <p:spPr>
          <a:xfrm>
            <a:off x="4572000" y="6309360"/>
            <a:ext cx="4114800" cy="320040"/>
          </a:xfrm>
          <a:prstGeom prst="rect">
            <a:avLst/>
          </a:prstGeom>
          <a:noFill/>
        </p:spPr>
        <p:txBody>
          <a:bodyPr wrap="none" lIns="0" tIns="0" rIns="0" bIns="0">
            <a:spAutoFit/>
          </a:bodyPr>
          <a:lstStyle/>
          <a:p>
            <a:pPr algn="ctr">
              <a:defRPr sz="950" b="1">
                <a:solidFill>
                  <a:srgbClr val="94A3B8"/>
                </a:solidFill>
              </a:defRPr>
            </a:pPr>
            <a:r>
              <a:t>// RESTRICTED — TECHNICAL BRIEFING &amp; COMMAND DEFENSE //</a:t>
            </a:r>
          </a:p>
        </p:txBody>
      </p:sp>
      <p:sp>
        <p:nvSpPr>
          <p:cNvPr id="10" name="Rounded Rectangle 9"/>
          <p:cNvSpPr/>
          <p:nvPr/>
        </p:nvSpPr>
        <p:spPr>
          <a:xfrm>
            <a:off x="10820095" y="6263640"/>
            <a:ext cx="6400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4748B"/>
                </a:solidFill>
              </a:defRPr>
            </a:pPr>
            <a:r>
              <a:t>04 / 09</a:t>
            </a:r>
          </a:p>
        </p:txBody>
      </p:sp>
      <p:sp>
        <p:nvSpPr>
          <p:cNvPr id="11" name="Rounded Rectangle 10"/>
          <p:cNvSpPr/>
          <p:nvPr/>
        </p:nvSpPr>
        <p:spPr>
          <a:xfrm>
            <a:off x="731520" y="1645920"/>
            <a:ext cx="10728655"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4400" y="1773936"/>
            <a:ext cx="548640" cy="54864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65F46"/>
                </a:solidFill>
              </a:defRPr>
            </a:pPr>
            <a:r>
              <a:t>01</a:t>
            </a:r>
          </a:p>
        </p:txBody>
      </p:sp>
      <p:sp>
        <p:nvSpPr>
          <p:cNvPr id="13" name="TextBox 12"/>
          <p:cNvSpPr txBox="1"/>
          <p:nvPr/>
        </p:nvSpPr>
        <p:spPr>
          <a:xfrm>
            <a:off x="1645920" y="1773936"/>
            <a:ext cx="2743200" cy="548640"/>
          </a:xfrm>
          <a:prstGeom prst="rect">
            <a:avLst/>
          </a:prstGeom>
          <a:noFill/>
        </p:spPr>
        <p:txBody>
          <a:bodyPr wrap="none" lIns="0" tIns="0" rIns="0" bIns="0">
            <a:spAutoFit/>
          </a:bodyPr>
          <a:lstStyle/>
          <a:p>
            <a:pPr>
              <a:defRPr sz="1300" b="1">
                <a:solidFill>
                  <a:srgbClr val="0F172A"/>
                </a:solidFill>
              </a:defRPr>
            </a:pPr>
            <a:r>
              <a:t>SMS DISPATCH</a:t>
            </a:r>
          </a:p>
        </p:txBody>
      </p:sp>
      <p:sp>
        <p:nvSpPr>
          <p:cNvPr id="14" name="TextBox 13"/>
          <p:cNvSpPr txBox="1"/>
          <p:nvPr/>
        </p:nvSpPr>
        <p:spPr>
          <a:xfrm>
            <a:off x="4572000" y="1773936"/>
            <a:ext cx="6675120" cy="548640"/>
          </a:xfrm>
          <a:prstGeom prst="rect">
            <a:avLst/>
          </a:prstGeom>
          <a:noFill/>
        </p:spPr>
        <p:txBody>
          <a:bodyPr wrap="none" lIns="0" tIns="0" rIns="0" bIns="0">
            <a:spAutoFit/>
          </a:bodyPr>
          <a:lstStyle/>
          <a:p>
            <a:pPr>
              <a:defRPr sz="1200">
                <a:solidFill>
                  <a:srgbClr val="334155"/>
                </a:solidFill>
              </a:defRPr>
            </a:pPr>
            <a:r>
              <a:t>Headquarters sends structured mobilization order via gateway.</a:t>
            </a:r>
          </a:p>
        </p:txBody>
      </p:sp>
      <p:sp>
        <p:nvSpPr>
          <p:cNvPr id="15" name="Rounded Rectangle 14"/>
          <p:cNvSpPr/>
          <p:nvPr/>
        </p:nvSpPr>
        <p:spPr>
          <a:xfrm>
            <a:off x="731520" y="2560320"/>
            <a:ext cx="10728655"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4400" y="2688336"/>
            <a:ext cx="548640" cy="548640"/>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defRPr>
            </a:pPr>
            <a:r>
              <a:t>02</a:t>
            </a:r>
          </a:p>
        </p:txBody>
      </p:sp>
      <p:sp>
        <p:nvSpPr>
          <p:cNvPr id="17" name="TextBox 16"/>
          <p:cNvSpPr txBox="1"/>
          <p:nvPr/>
        </p:nvSpPr>
        <p:spPr>
          <a:xfrm>
            <a:off x="1645920" y="2688336"/>
            <a:ext cx="2743200" cy="548640"/>
          </a:xfrm>
          <a:prstGeom prst="rect">
            <a:avLst/>
          </a:prstGeom>
          <a:noFill/>
        </p:spPr>
        <p:txBody>
          <a:bodyPr wrap="none" lIns="0" tIns="0" rIns="0" bIns="0">
            <a:spAutoFit/>
          </a:bodyPr>
          <a:lstStyle/>
          <a:p>
            <a:pPr>
              <a:defRPr sz="1300" b="1">
                <a:solidFill>
                  <a:srgbClr val="0F172A"/>
                </a:solidFill>
              </a:defRPr>
            </a:pPr>
            <a:r>
              <a:t>BACKGROUND INTERCEPT</a:t>
            </a:r>
          </a:p>
        </p:txBody>
      </p:sp>
      <p:sp>
        <p:nvSpPr>
          <p:cNvPr id="18" name="TextBox 17"/>
          <p:cNvSpPr txBox="1"/>
          <p:nvPr/>
        </p:nvSpPr>
        <p:spPr>
          <a:xfrm>
            <a:off x="4572000" y="2688336"/>
            <a:ext cx="6675120" cy="548640"/>
          </a:xfrm>
          <a:prstGeom prst="rect">
            <a:avLst/>
          </a:prstGeom>
          <a:noFill/>
        </p:spPr>
        <p:txBody>
          <a:bodyPr wrap="none" lIns="0" tIns="0" rIns="0" bIns="0">
            <a:spAutoFit/>
          </a:bodyPr>
          <a:lstStyle/>
          <a:p>
            <a:pPr>
              <a:defRPr sz="1200">
                <a:solidFill>
                  <a:srgbClr val="334155"/>
                </a:solidFill>
              </a:defRPr>
            </a:pPr>
            <a:r>
              <a:t>SmsAlertReceiver intercepts SMS at Android OS level (even if app is closed).</a:t>
            </a:r>
          </a:p>
        </p:txBody>
      </p:sp>
      <p:sp>
        <p:nvSpPr>
          <p:cNvPr id="19" name="Rounded Rectangle 18"/>
          <p:cNvSpPr/>
          <p:nvPr/>
        </p:nvSpPr>
        <p:spPr>
          <a:xfrm>
            <a:off x="731520" y="3474720"/>
            <a:ext cx="10728655"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4400" y="3602736"/>
            <a:ext cx="548640" cy="54864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D97706"/>
                </a:solidFill>
              </a:defRPr>
            </a:pPr>
            <a:r>
              <a:t>03</a:t>
            </a:r>
          </a:p>
        </p:txBody>
      </p:sp>
      <p:sp>
        <p:nvSpPr>
          <p:cNvPr id="21" name="TextBox 20"/>
          <p:cNvSpPr txBox="1"/>
          <p:nvPr/>
        </p:nvSpPr>
        <p:spPr>
          <a:xfrm>
            <a:off x="1645920" y="3602736"/>
            <a:ext cx="2743200" cy="548640"/>
          </a:xfrm>
          <a:prstGeom prst="rect">
            <a:avLst/>
          </a:prstGeom>
          <a:noFill/>
        </p:spPr>
        <p:txBody>
          <a:bodyPr wrap="none" lIns="0" tIns="0" rIns="0" bIns="0">
            <a:spAutoFit/>
          </a:bodyPr>
          <a:lstStyle/>
          <a:p>
            <a:pPr>
              <a:defRPr sz="1300" b="1">
                <a:solidFill>
                  <a:srgbClr val="0F172A"/>
                </a:solidFill>
              </a:defRPr>
            </a:pPr>
            <a:r>
              <a:t>AUDIO STREAM OVERRIDE</a:t>
            </a:r>
          </a:p>
        </p:txBody>
      </p:sp>
      <p:sp>
        <p:nvSpPr>
          <p:cNvPr id="22" name="TextBox 21"/>
          <p:cNvSpPr txBox="1"/>
          <p:nvPr/>
        </p:nvSpPr>
        <p:spPr>
          <a:xfrm>
            <a:off x="4572000" y="3602736"/>
            <a:ext cx="6675120" cy="548640"/>
          </a:xfrm>
          <a:prstGeom prst="rect">
            <a:avLst/>
          </a:prstGeom>
          <a:noFill/>
        </p:spPr>
        <p:txBody>
          <a:bodyPr wrap="none" lIns="0" tIns="0" rIns="0" bIns="0">
            <a:spAutoFit/>
          </a:bodyPr>
          <a:lstStyle/>
          <a:p>
            <a:pPr>
              <a:defRPr sz="1200">
                <a:solidFill>
                  <a:srgbClr val="334155"/>
                </a:solidFill>
              </a:defRPr>
            </a:pPr>
            <a:r>
              <a:t>TacticalAlarmManager forces USAGE_ALARM stream at maximum hardware volume.</a:t>
            </a:r>
          </a:p>
        </p:txBody>
      </p:sp>
      <p:sp>
        <p:nvSpPr>
          <p:cNvPr id="23" name="Rounded Rectangle 22"/>
          <p:cNvSpPr/>
          <p:nvPr/>
        </p:nvSpPr>
        <p:spPr>
          <a:xfrm>
            <a:off x="731520" y="4389120"/>
            <a:ext cx="10728655"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4400" y="4517136"/>
            <a:ext cx="548640" cy="548640"/>
          </a:xfrm>
          <a:prstGeom prst="roundRect">
            <a:avLst/>
          </a:prstGeom>
          <a:solidFill>
            <a:srgbClr val="FEF2F2"/>
          </a:solidFill>
          <a:ln w="1270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91C1C"/>
                </a:solidFill>
              </a:defRPr>
            </a:pPr>
            <a:r>
              <a:t>04</a:t>
            </a:r>
          </a:p>
        </p:txBody>
      </p:sp>
      <p:sp>
        <p:nvSpPr>
          <p:cNvPr id="25" name="TextBox 24"/>
          <p:cNvSpPr txBox="1"/>
          <p:nvPr/>
        </p:nvSpPr>
        <p:spPr>
          <a:xfrm>
            <a:off x="1645920" y="4517136"/>
            <a:ext cx="2743200" cy="548640"/>
          </a:xfrm>
          <a:prstGeom prst="rect">
            <a:avLst/>
          </a:prstGeom>
          <a:noFill/>
        </p:spPr>
        <p:txBody>
          <a:bodyPr wrap="none" lIns="0" tIns="0" rIns="0" bIns="0">
            <a:spAutoFit/>
          </a:bodyPr>
          <a:lstStyle/>
          <a:p>
            <a:pPr>
              <a:defRPr sz="1300" b="1">
                <a:solidFill>
                  <a:srgbClr val="0F172A"/>
                </a:solidFill>
              </a:defRPr>
            </a:pPr>
            <a:r>
              <a:t>SCREEN WAKE TAKEOVER</a:t>
            </a:r>
          </a:p>
        </p:txBody>
      </p:sp>
      <p:sp>
        <p:nvSpPr>
          <p:cNvPr id="26" name="TextBox 25"/>
          <p:cNvSpPr txBox="1"/>
          <p:nvPr/>
        </p:nvSpPr>
        <p:spPr>
          <a:xfrm>
            <a:off x="4572000" y="4517136"/>
            <a:ext cx="6675120" cy="548640"/>
          </a:xfrm>
          <a:prstGeom prst="rect">
            <a:avLst/>
          </a:prstGeom>
          <a:noFill/>
        </p:spPr>
        <p:txBody>
          <a:bodyPr wrap="none" lIns="0" tIns="0" rIns="0" bIns="0">
            <a:spAutoFit/>
          </a:bodyPr>
          <a:lstStyle/>
          <a:p>
            <a:pPr>
              <a:defRPr sz="1200">
                <a:solidFill>
                  <a:srgbClr val="334155"/>
                </a:solidFill>
              </a:defRPr>
            </a:pPr>
            <a:r>
              <a:t>AlarmManager launches AlertActivity, waking screen over keyguard/lock screen.</a:t>
            </a:r>
          </a:p>
        </p:txBody>
      </p:sp>
      <p:sp>
        <p:nvSpPr>
          <p:cNvPr id="27" name="Rounded Rectangle 26"/>
          <p:cNvSpPr/>
          <p:nvPr/>
        </p:nvSpPr>
        <p:spPr>
          <a:xfrm>
            <a:off x="731520" y="5303520"/>
            <a:ext cx="10728655"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14400" y="5431536"/>
            <a:ext cx="548640" cy="54864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65F46"/>
                </a:solidFill>
              </a:defRPr>
            </a:pPr>
            <a:r>
              <a:t>05</a:t>
            </a:r>
          </a:p>
        </p:txBody>
      </p:sp>
      <p:sp>
        <p:nvSpPr>
          <p:cNvPr id="29" name="TextBox 28"/>
          <p:cNvSpPr txBox="1"/>
          <p:nvPr/>
        </p:nvSpPr>
        <p:spPr>
          <a:xfrm>
            <a:off x="1645920" y="5431536"/>
            <a:ext cx="2743200" cy="548640"/>
          </a:xfrm>
          <a:prstGeom prst="rect">
            <a:avLst/>
          </a:prstGeom>
          <a:noFill/>
        </p:spPr>
        <p:txBody>
          <a:bodyPr wrap="none" lIns="0" tIns="0" rIns="0" bIns="0">
            <a:spAutoFit/>
          </a:bodyPr>
          <a:lstStyle/>
          <a:p>
            <a:pPr>
              <a:defRPr sz="1300" b="1">
                <a:solidFill>
                  <a:srgbClr val="0F172A"/>
                </a:solidFill>
              </a:defRPr>
            </a:pPr>
            <a:r>
              <a:t>OFFICER ACKNOWLEDGMENT</a:t>
            </a:r>
          </a:p>
        </p:txBody>
      </p:sp>
      <p:sp>
        <p:nvSpPr>
          <p:cNvPr id="30" name="TextBox 29"/>
          <p:cNvSpPr txBox="1"/>
          <p:nvPr/>
        </p:nvSpPr>
        <p:spPr>
          <a:xfrm>
            <a:off x="4572000" y="5431536"/>
            <a:ext cx="6675120" cy="548640"/>
          </a:xfrm>
          <a:prstGeom prst="rect">
            <a:avLst/>
          </a:prstGeom>
          <a:noFill/>
        </p:spPr>
        <p:txBody>
          <a:bodyPr wrap="none" lIns="0" tIns="0" rIns="0" bIns="0">
            <a:spAutoFit/>
          </a:bodyPr>
          <a:lstStyle/>
          <a:p>
            <a:pPr>
              <a:defRPr sz="1200">
                <a:solidFill>
                  <a:srgbClr val="334155"/>
                </a:solidFill>
              </a:defRPr>
            </a:pPr>
            <a:r>
              <a:t>Troop taps '✓ I Received This Order', killing siren and logging response.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  OPERATIONAL DEMO</a:t>
            </a:r>
          </a:p>
        </p:txBody>
      </p:sp>
      <p:sp>
        <p:nvSpPr>
          <p:cNvPr id="4" name="TextBox 3"/>
          <p:cNvSpPr txBox="1"/>
          <p:nvPr/>
        </p:nvSpPr>
        <p:spPr>
          <a:xfrm>
            <a:off x="731520" y="749808"/>
            <a:ext cx="8961120" cy="594360"/>
          </a:xfrm>
          <a:prstGeom prst="rect">
            <a:avLst/>
          </a:prstGeom>
          <a:noFill/>
        </p:spPr>
        <p:txBody>
          <a:bodyPr wrap="none" lIns="0" tIns="0" rIns="0" bIns="0">
            <a:spAutoFit/>
          </a:bodyPr>
          <a:lstStyle/>
          <a:p>
            <a:pPr>
              <a:defRPr sz="2400" b="1">
                <a:solidFill>
                  <a:srgbClr val="0F172A"/>
                </a:solidFill>
              </a:defRPr>
            </a:pPr>
            <a:r>
              <a:t>Live Demonstration Phase (Hands-On Proof)</a:t>
            </a:r>
          </a:p>
        </p:txBody>
      </p:sp>
      <p:pic>
        <p:nvPicPr>
          <p:cNvPr id="5" name="Picture 4" descr="rescom-emblem.jpg"/>
          <p:cNvPicPr>
            <a:picLocks noChangeAspect="1"/>
          </p:cNvPicPr>
          <p:nvPr/>
        </p:nvPicPr>
        <p:blipFill>
          <a:blip r:embed="rId2"/>
          <a:stretch>
            <a:fillRect/>
          </a:stretch>
        </p:blipFill>
        <p:spPr>
          <a:xfrm>
            <a:off x="10972800" y="365760"/>
            <a:ext cx="594360" cy="594360"/>
          </a:xfrm>
          <a:prstGeom prst="rect">
            <a:avLst/>
          </a:prstGeom>
        </p:spPr>
      </p:pic>
      <p:sp>
        <p:nvSpPr>
          <p:cNvPr id="6" name="TextBox 5"/>
          <p:cNvSpPr txBox="1"/>
          <p:nvPr/>
        </p:nvSpPr>
        <p:spPr>
          <a:xfrm>
            <a:off x="9326880" y="384048"/>
            <a:ext cx="1554480" cy="548640"/>
          </a:xfrm>
          <a:prstGeom prst="rect">
            <a:avLst/>
          </a:prstGeom>
          <a:noFill/>
        </p:spPr>
        <p:txBody>
          <a:bodyPr wrap="none" lIns="0" tIns="0" rIns="0" bIns="0">
            <a:spAutoFit/>
          </a:bodyPr>
          <a:lstStyle/>
          <a:p>
            <a:pPr algn="r">
              <a:defRPr sz="1100" b="1">
                <a:solidFill>
                  <a:srgbClr val="065F46"/>
                </a:solidFill>
              </a:defRPr>
            </a:pPr>
            <a:r>
              <a:t>10RCDG RESCOM</a:t>
            </a:r>
          </a:p>
          <a:p>
            <a:pPr algn="r">
              <a:defRPr sz="900">
                <a:solidFill>
                  <a:srgbClr val="64748B"/>
                </a:solidFill>
              </a:defRPr>
            </a:pPr>
            <a:r>
              <a:t>PHILIPPINE ARMY</a:t>
            </a:r>
          </a:p>
        </p:txBody>
      </p:sp>
      <p:sp>
        <p:nvSpPr>
          <p:cNvPr id="7" name="Rectangle 6"/>
          <p:cNvSpPr/>
          <p:nvPr/>
        </p:nvSpPr>
        <p:spPr>
          <a:xfrm>
            <a:off x="731520" y="13898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09360"/>
            <a:ext cx="5029200" cy="320040"/>
          </a:xfrm>
          <a:prstGeom prst="rect">
            <a:avLst/>
          </a:prstGeom>
          <a:noFill/>
        </p:spPr>
        <p:txBody>
          <a:bodyPr wrap="none" lIns="0" tIns="0" rIns="0" bIns="0">
            <a:spAutoFit/>
          </a:bodyPr>
          <a:lstStyle/>
          <a:p>
            <a:pPr>
              <a:defRPr sz="950">
                <a:solidFill>
                  <a:srgbClr val="64748B"/>
                </a:solidFill>
              </a:defRPr>
            </a:pPr>
            <a:r>
              <a:t>10th Regional Community Defense Group  •  Reserve Command, Philippine Army</a:t>
            </a:r>
          </a:p>
        </p:txBody>
      </p:sp>
      <p:sp>
        <p:nvSpPr>
          <p:cNvPr id="9" name="TextBox 8"/>
          <p:cNvSpPr txBox="1"/>
          <p:nvPr/>
        </p:nvSpPr>
        <p:spPr>
          <a:xfrm>
            <a:off x="4572000" y="6309360"/>
            <a:ext cx="4114800" cy="320040"/>
          </a:xfrm>
          <a:prstGeom prst="rect">
            <a:avLst/>
          </a:prstGeom>
          <a:noFill/>
        </p:spPr>
        <p:txBody>
          <a:bodyPr wrap="none" lIns="0" tIns="0" rIns="0" bIns="0">
            <a:spAutoFit/>
          </a:bodyPr>
          <a:lstStyle/>
          <a:p>
            <a:pPr algn="ctr">
              <a:defRPr sz="950" b="1">
                <a:solidFill>
                  <a:srgbClr val="94A3B8"/>
                </a:solidFill>
              </a:defRPr>
            </a:pPr>
            <a:r>
              <a:t>// RESTRICTED — TECHNICAL BRIEFING &amp; COMMAND DEFENSE //</a:t>
            </a:r>
          </a:p>
        </p:txBody>
      </p:sp>
      <p:sp>
        <p:nvSpPr>
          <p:cNvPr id="10" name="Rounded Rectangle 9"/>
          <p:cNvSpPr/>
          <p:nvPr/>
        </p:nvSpPr>
        <p:spPr>
          <a:xfrm>
            <a:off x="10820095" y="6263640"/>
            <a:ext cx="6400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4748B"/>
                </a:solidFill>
              </a:defRPr>
            </a:pPr>
            <a:r>
              <a:t>05 / 09</a:t>
            </a:r>
          </a:p>
        </p:txBody>
      </p:sp>
      <p:sp>
        <p:nvSpPr>
          <p:cNvPr id="11" name="Rounded Rectangle 10"/>
          <p:cNvSpPr/>
          <p:nvPr/>
        </p:nvSpPr>
        <p:spPr>
          <a:xfrm>
            <a:off x="731520" y="164592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4400" y="1828800"/>
            <a:ext cx="2962656" cy="50292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65F46"/>
                </a:solidFill>
              </a:defRPr>
            </a:pPr>
            <a:r>
              <a:t>STAGE 1: THE DISPATCH</a:t>
            </a:r>
          </a:p>
        </p:txBody>
      </p:sp>
      <p:sp>
        <p:nvSpPr>
          <p:cNvPr id="13" name="TextBox 12"/>
          <p:cNvSpPr txBox="1"/>
          <p:nvPr/>
        </p:nvSpPr>
        <p:spPr>
          <a:xfrm>
            <a:off x="960120" y="2468880"/>
            <a:ext cx="2871216" cy="3383280"/>
          </a:xfrm>
          <a:prstGeom prst="rect">
            <a:avLst/>
          </a:prstGeom>
          <a:noFill/>
        </p:spPr>
        <p:txBody>
          <a:bodyPr wrap="square">
            <a:spAutoFit/>
          </a:bodyPr>
          <a:lstStyle/>
          <a:p>
            <a:pPr>
              <a:defRPr sz="1250" b="1">
                <a:solidFill>
                  <a:srgbClr val="0F172A"/>
                </a:solidFill>
              </a:defRPr>
            </a:pPr>
            <a:r>
              <a:t>Headquarters Command Console</a:t>
            </a:r>
            <a:br/>
          </a:p>
          <a:p>
            <a:pPr>
              <a:defRPr sz="1100">
                <a:solidFill>
                  <a:srgbClr val="334155"/>
                </a:solidFill>
              </a:defRPr>
            </a:pPr>
            <a:r>
              <a:t>1. Officer logs into secure Command Console.</a:t>
            </a:r>
          </a:p>
          <a:p>
            <a:pPr>
              <a:defRPr sz="1100">
                <a:solidFill>
                  <a:srgbClr val="334155"/>
                </a:solidFill>
              </a:defRPr>
            </a:pPr>
            <a:r>
              <a:t>2. Selects Target CDC Unit (e.g. 1001st CDC).</a:t>
            </a:r>
          </a:p>
          <a:p>
            <a:pPr>
              <a:defRPr sz="1100">
                <a:solidFill>
                  <a:srgbClr val="334155"/>
                </a:solidFill>
              </a:defRPr>
            </a:pPr>
            <a:r>
              <a:t>3. Enters mobilization directive.</a:t>
            </a:r>
          </a:p>
          <a:p>
            <a:pPr>
              <a:defRPr sz="1100">
                <a:solidFill>
                  <a:srgbClr val="334155"/>
                </a:solidFill>
              </a:defRPr>
            </a:pPr>
            <a:r>
              <a:t>4. Clicks 'TRANSMIT EMERGENCY SIREN'.</a:t>
            </a:r>
          </a:p>
        </p:txBody>
      </p:sp>
      <p:sp>
        <p:nvSpPr>
          <p:cNvPr id="14" name="Rounded Rectangle 13"/>
          <p:cNvSpPr/>
          <p:nvPr/>
        </p:nvSpPr>
        <p:spPr>
          <a:xfrm>
            <a:off x="4425696" y="164592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608576" y="1828800"/>
            <a:ext cx="2962656" cy="50292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D97706"/>
                </a:solidFill>
              </a:defRPr>
            </a:pPr>
            <a:r>
              <a:t>STAGE 2: THE RECEPTION</a:t>
            </a:r>
          </a:p>
        </p:txBody>
      </p:sp>
      <p:sp>
        <p:nvSpPr>
          <p:cNvPr id="16" name="TextBox 15"/>
          <p:cNvSpPr txBox="1"/>
          <p:nvPr/>
        </p:nvSpPr>
        <p:spPr>
          <a:xfrm>
            <a:off x="4654296" y="2468880"/>
            <a:ext cx="2871216" cy="3383280"/>
          </a:xfrm>
          <a:prstGeom prst="rect">
            <a:avLst/>
          </a:prstGeom>
          <a:noFill/>
        </p:spPr>
        <p:txBody>
          <a:bodyPr wrap="square">
            <a:spAutoFit/>
          </a:bodyPr>
          <a:lstStyle/>
          <a:p>
            <a:pPr>
              <a:defRPr sz="1250" b="1">
                <a:solidFill>
                  <a:srgbClr val="0F172A"/>
                </a:solidFill>
              </a:defRPr>
            </a:pPr>
            <a:r>
              <a:t>Soldier Device (Locked &amp; Muted)</a:t>
            </a:r>
            <a:br/>
          </a:p>
          <a:p>
            <a:pPr>
              <a:defRPr sz="1100">
                <a:solidFill>
                  <a:srgbClr val="334155"/>
                </a:solidFill>
              </a:defRPr>
            </a:pPr>
            <a:r>
              <a:t>1. Phone is intentionally set to Silent / Mute.</a:t>
            </a:r>
          </a:p>
          <a:p>
            <a:pPr>
              <a:defRPr sz="1100">
                <a:solidFill>
                  <a:srgbClr val="334155"/>
                </a:solidFill>
              </a:defRPr>
            </a:pPr>
            <a:r>
              <a:t>2. SMS arrives at device.</a:t>
            </a:r>
          </a:p>
          <a:p>
            <a:pPr>
              <a:defRPr sz="1100">
                <a:solidFill>
                  <a:srgbClr val="334155"/>
                </a:solidFill>
              </a:defRPr>
            </a:pPr>
            <a:r>
              <a:t>3. Screen wakes up with circular 10RCDG emblem.</a:t>
            </a:r>
          </a:p>
          <a:p>
            <a:pPr>
              <a:defRPr sz="1100">
                <a:solidFill>
                  <a:srgbClr val="334155"/>
                </a:solidFill>
              </a:defRPr>
            </a:pPr>
            <a:r>
              <a:t>4. High-priority siren sounds at max volume.</a:t>
            </a:r>
          </a:p>
        </p:txBody>
      </p:sp>
      <p:sp>
        <p:nvSpPr>
          <p:cNvPr id="17" name="Rounded Rectangle 16"/>
          <p:cNvSpPr/>
          <p:nvPr/>
        </p:nvSpPr>
        <p:spPr>
          <a:xfrm>
            <a:off x="8119872" y="164592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302752" y="1828800"/>
            <a:ext cx="2962656" cy="502920"/>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D4ED8"/>
                </a:solidFill>
              </a:defRPr>
            </a:pPr>
            <a:r>
              <a:t>STAGE 3: THE READINESS</a:t>
            </a:r>
          </a:p>
        </p:txBody>
      </p:sp>
      <p:sp>
        <p:nvSpPr>
          <p:cNvPr id="19" name="TextBox 18"/>
          <p:cNvSpPr txBox="1"/>
          <p:nvPr/>
        </p:nvSpPr>
        <p:spPr>
          <a:xfrm>
            <a:off x="8348472" y="2468880"/>
            <a:ext cx="2871216" cy="3383280"/>
          </a:xfrm>
          <a:prstGeom prst="rect">
            <a:avLst/>
          </a:prstGeom>
          <a:noFill/>
        </p:spPr>
        <p:txBody>
          <a:bodyPr wrap="square">
            <a:spAutoFit/>
          </a:bodyPr>
          <a:lstStyle/>
          <a:p>
            <a:pPr>
              <a:defRPr sz="1250" b="1">
                <a:solidFill>
                  <a:srgbClr val="0F172A"/>
                </a:solidFill>
              </a:defRPr>
            </a:pPr>
            <a:r>
              <a:t>Accountability &amp; Receipt</a:t>
            </a:r>
            <a:br/>
          </a:p>
          <a:p>
            <a:pPr>
              <a:defRPr sz="1100">
                <a:solidFill>
                  <a:srgbClr val="334155"/>
                </a:solidFill>
              </a:defRPr>
            </a:pPr>
            <a:r>
              <a:t>1. Soldier views urgent orders and drill code.</a:t>
            </a:r>
          </a:p>
          <a:p>
            <a:pPr>
              <a:defRPr sz="1100">
                <a:solidFill>
                  <a:srgbClr val="334155"/>
                </a:solidFill>
              </a:defRPr>
            </a:pPr>
            <a:r>
              <a:t>2. Soldier taps '✓ I RECEIVED THIS ORDER'.</a:t>
            </a:r>
          </a:p>
          <a:p>
            <a:pPr>
              <a:defRPr sz="1100">
                <a:solidFill>
                  <a:srgbClr val="334155"/>
                </a:solidFill>
              </a:defRPr>
            </a:pPr>
            <a:r>
              <a:t>3. Siren silences immediately.</a:t>
            </a:r>
          </a:p>
          <a:p>
            <a:pPr>
              <a:defRPr sz="1100">
                <a:solidFill>
                  <a:srgbClr val="334155"/>
                </a:solidFill>
              </a:defRPr>
            </a:pPr>
            <a:r>
              <a:t>4. Command console logs troop acknowledgment.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  STRATEGIC REQUIREMENT</a:t>
            </a:r>
          </a:p>
        </p:txBody>
      </p:sp>
      <p:sp>
        <p:nvSpPr>
          <p:cNvPr id="4" name="TextBox 3"/>
          <p:cNvSpPr txBox="1"/>
          <p:nvPr/>
        </p:nvSpPr>
        <p:spPr>
          <a:xfrm>
            <a:off x="731520" y="749808"/>
            <a:ext cx="8961120" cy="594360"/>
          </a:xfrm>
          <a:prstGeom prst="rect">
            <a:avLst/>
          </a:prstGeom>
          <a:noFill/>
        </p:spPr>
        <p:txBody>
          <a:bodyPr wrap="none" lIns="0" tIns="0" rIns="0" bIns="0">
            <a:spAutoFit/>
          </a:bodyPr>
          <a:lstStyle/>
          <a:p>
            <a:pPr>
              <a:defRPr sz="2400" b="1">
                <a:solidFill>
                  <a:srgbClr val="0F172A"/>
                </a:solidFill>
              </a:defRPr>
            </a:pPr>
            <a:r>
              <a:t>The National Telecom Barrier: Why We Need SENDER ID</a:t>
            </a:r>
          </a:p>
        </p:txBody>
      </p:sp>
      <p:pic>
        <p:nvPicPr>
          <p:cNvPr id="5" name="Picture 4" descr="rescom-emblem.jpg"/>
          <p:cNvPicPr>
            <a:picLocks noChangeAspect="1"/>
          </p:cNvPicPr>
          <p:nvPr/>
        </p:nvPicPr>
        <p:blipFill>
          <a:blip r:embed="rId2"/>
          <a:stretch>
            <a:fillRect/>
          </a:stretch>
        </p:blipFill>
        <p:spPr>
          <a:xfrm>
            <a:off x="10972800" y="365760"/>
            <a:ext cx="594360" cy="594360"/>
          </a:xfrm>
          <a:prstGeom prst="rect">
            <a:avLst/>
          </a:prstGeom>
        </p:spPr>
      </p:pic>
      <p:sp>
        <p:nvSpPr>
          <p:cNvPr id="6" name="TextBox 5"/>
          <p:cNvSpPr txBox="1"/>
          <p:nvPr/>
        </p:nvSpPr>
        <p:spPr>
          <a:xfrm>
            <a:off x="9326880" y="384048"/>
            <a:ext cx="1554480" cy="548640"/>
          </a:xfrm>
          <a:prstGeom prst="rect">
            <a:avLst/>
          </a:prstGeom>
          <a:noFill/>
        </p:spPr>
        <p:txBody>
          <a:bodyPr wrap="none" lIns="0" tIns="0" rIns="0" bIns="0">
            <a:spAutoFit/>
          </a:bodyPr>
          <a:lstStyle/>
          <a:p>
            <a:pPr algn="r">
              <a:defRPr sz="1100" b="1">
                <a:solidFill>
                  <a:srgbClr val="065F46"/>
                </a:solidFill>
              </a:defRPr>
            </a:pPr>
            <a:r>
              <a:t>10RCDG RESCOM</a:t>
            </a:r>
          </a:p>
          <a:p>
            <a:pPr algn="r">
              <a:defRPr sz="900">
                <a:solidFill>
                  <a:srgbClr val="64748B"/>
                </a:solidFill>
              </a:defRPr>
            </a:pPr>
            <a:r>
              <a:t>PHILIPPINE ARMY</a:t>
            </a:r>
          </a:p>
        </p:txBody>
      </p:sp>
      <p:sp>
        <p:nvSpPr>
          <p:cNvPr id="7" name="Rectangle 6"/>
          <p:cNvSpPr/>
          <p:nvPr/>
        </p:nvSpPr>
        <p:spPr>
          <a:xfrm>
            <a:off x="731520" y="13898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09360"/>
            <a:ext cx="5029200" cy="320040"/>
          </a:xfrm>
          <a:prstGeom prst="rect">
            <a:avLst/>
          </a:prstGeom>
          <a:noFill/>
        </p:spPr>
        <p:txBody>
          <a:bodyPr wrap="none" lIns="0" tIns="0" rIns="0" bIns="0">
            <a:spAutoFit/>
          </a:bodyPr>
          <a:lstStyle/>
          <a:p>
            <a:pPr>
              <a:defRPr sz="950">
                <a:solidFill>
                  <a:srgbClr val="64748B"/>
                </a:solidFill>
              </a:defRPr>
            </a:pPr>
            <a:r>
              <a:t>10th Regional Community Defense Group  •  Reserve Command, Philippine Army</a:t>
            </a:r>
          </a:p>
        </p:txBody>
      </p:sp>
      <p:sp>
        <p:nvSpPr>
          <p:cNvPr id="9" name="TextBox 8"/>
          <p:cNvSpPr txBox="1"/>
          <p:nvPr/>
        </p:nvSpPr>
        <p:spPr>
          <a:xfrm>
            <a:off x="4572000" y="6309360"/>
            <a:ext cx="4114800" cy="320040"/>
          </a:xfrm>
          <a:prstGeom prst="rect">
            <a:avLst/>
          </a:prstGeom>
          <a:noFill/>
        </p:spPr>
        <p:txBody>
          <a:bodyPr wrap="none" lIns="0" tIns="0" rIns="0" bIns="0">
            <a:spAutoFit/>
          </a:bodyPr>
          <a:lstStyle/>
          <a:p>
            <a:pPr algn="ctr">
              <a:defRPr sz="950" b="1">
                <a:solidFill>
                  <a:srgbClr val="94A3B8"/>
                </a:solidFill>
              </a:defRPr>
            </a:pPr>
            <a:r>
              <a:t>// RESTRICTED — TECHNICAL BRIEFING &amp; COMMAND DEFENSE //</a:t>
            </a:r>
          </a:p>
        </p:txBody>
      </p:sp>
      <p:sp>
        <p:nvSpPr>
          <p:cNvPr id="10" name="Rounded Rectangle 9"/>
          <p:cNvSpPr/>
          <p:nvPr/>
        </p:nvSpPr>
        <p:spPr>
          <a:xfrm>
            <a:off x="10820095" y="6263640"/>
            <a:ext cx="6400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4748B"/>
                </a:solidFill>
              </a:defRPr>
            </a:pPr>
            <a:r>
              <a:t>06 / 09</a:t>
            </a:r>
          </a:p>
        </p:txBody>
      </p:sp>
      <p:sp>
        <p:nvSpPr>
          <p:cNvPr id="11" name="Rounded Rectangle 10"/>
          <p:cNvSpPr/>
          <p:nvPr/>
        </p:nvSpPr>
        <p:spPr>
          <a:xfrm>
            <a:off x="731520" y="1645920"/>
            <a:ext cx="5175504" cy="4389120"/>
          </a:xfrm>
          <a:prstGeom prst="roundRect">
            <a:avLst/>
          </a:prstGeom>
          <a:solidFill>
            <a:srgbClr val="FFFFFF"/>
          </a:solidFill>
          <a:ln w="1905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05840" y="1920240"/>
            <a:ext cx="4626864" cy="50292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91C1C"/>
                </a:solidFill>
              </a:defRPr>
            </a:pPr>
            <a:r>
              <a:t>CURRENT PROTOTYPE (SIM GATEWAY)</a:t>
            </a:r>
          </a:p>
        </p:txBody>
      </p:sp>
      <p:sp>
        <p:nvSpPr>
          <p:cNvPr id="13" name="TextBox 12"/>
          <p:cNvSpPr txBox="1"/>
          <p:nvPr/>
        </p:nvSpPr>
        <p:spPr>
          <a:xfrm>
            <a:off x="1005840" y="2560320"/>
            <a:ext cx="4626864" cy="3291840"/>
          </a:xfrm>
          <a:prstGeom prst="rect">
            <a:avLst/>
          </a:prstGeom>
          <a:noFill/>
        </p:spPr>
        <p:txBody>
          <a:bodyPr wrap="square">
            <a:spAutoFit/>
          </a:bodyPr>
          <a:lstStyle/>
          <a:p>
            <a:pPr>
              <a:defRPr sz="1200" b="1">
                <a:solidFill>
                  <a:srgbClr val="0F172A"/>
                </a:solidFill>
              </a:defRPr>
            </a:pPr>
            <a:r>
              <a:t>Peer-to-Peer SIM Limitations (Globe / Smart / DITO):</a:t>
            </a:r>
            <a:br/>
          </a:p>
          <a:p>
            <a:pPr>
              <a:defRPr sz="1100">
                <a:solidFill>
                  <a:srgbClr val="7F1D1D"/>
                </a:solidFill>
              </a:defRPr>
            </a:pPr>
            <a:r>
              <a:t>✗  NTC Mandate: Telcos aggressively block all web links (.com, .app) on SIM traffic to fight smishing scams.</a:t>
            </a:r>
          </a:p>
          <a:p>
            <a:pPr>
              <a:defRPr sz="1100">
                <a:solidFill>
                  <a:srgbClr val="7F1D1D"/>
                </a:solidFill>
              </a:defRPr>
            </a:pPr>
            <a:r>
              <a:t>✗  Throughput Bottleneck: Max 10–15 SMS per minute; inadequate for 1,000+ regional troops during fast mobilization.</a:t>
            </a:r>
          </a:p>
          <a:p>
            <a:pPr>
              <a:defRPr sz="1100">
                <a:solidFill>
                  <a:srgbClr val="7F1D1D"/>
                </a:solidFill>
              </a:defRPr>
            </a:pPr>
            <a:r>
              <a:t>✗  Unknown Sender: Appears as an ordinary 11-digit number (e.g. 0917-xxx-xxxx); soldiers suspect it is spam.</a:t>
            </a:r>
          </a:p>
          <a:p>
            <a:pPr>
              <a:defRPr sz="1100">
                <a:solidFill>
                  <a:srgbClr val="7F1D1D"/>
                </a:solidFill>
              </a:defRPr>
            </a:pPr>
            <a:r>
              <a:t>✗  Carrier Ban Risk: High burst volumes can cause telcos to temporarily flag and suspend the physical SIM.</a:t>
            </a:r>
          </a:p>
        </p:txBody>
      </p:sp>
      <p:sp>
        <p:nvSpPr>
          <p:cNvPr id="14" name="Rounded Rectangle 13"/>
          <p:cNvSpPr/>
          <p:nvPr/>
        </p:nvSpPr>
        <p:spPr>
          <a:xfrm>
            <a:off x="6272784" y="1645920"/>
            <a:ext cx="5175504" cy="438912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47104" y="1920240"/>
            <a:ext cx="4626864" cy="5029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65F46"/>
                </a:solidFill>
              </a:defRPr>
            </a:pPr>
            <a:r>
              <a:t>ENTERPRISE ALPHANUMERIC SENDER ID</a:t>
            </a:r>
          </a:p>
        </p:txBody>
      </p:sp>
      <p:sp>
        <p:nvSpPr>
          <p:cNvPr id="16" name="TextBox 15"/>
          <p:cNvSpPr txBox="1"/>
          <p:nvPr/>
        </p:nvSpPr>
        <p:spPr>
          <a:xfrm>
            <a:off x="6547104" y="2560320"/>
            <a:ext cx="4626864" cy="3291840"/>
          </a:xfrm>
          <a:prstGeom prst="rect">
            <a:avLst/>
          </a:prstGeom>
          <a:noFill/>
        </p:spPr>
        <p:txBody>
          <a:bodyPr wrap="square">
            <a:spAutoFit/>
          </a:bodyPr>
          <a:lstStyle/>
          <a:p>
            <a:pPr>
              <a:defRPr sz="1200" b="1">
                <a:solidFill>
                  <a:srgbClr val="0F172A"/>
                </a:solidFill>
              </a:defRPr>
            </a:pPr>
            <a:r>
              <a:t>Carrier A2P Whitelist (e.g. '10RCDG' or 'RESCOM-PA'):</a:t>
            </a:r>
            <a:br/>
          </a:p>
          <a:p>
            <a:pPr>
              <a:defRPr sz="1100">
                <a:solidFill>
                  <a:srgbClr val="047857"/>
                </a:solidFill>
              </a:defRPr>
            </a:pPr>
            <a:r>
              <a:t>✓  100% Delivery Whitelist: Fully exempt from carrier anti-spam firewalls; permits safe delivery of official app links.</a:t>
            </a:r>
          </a:p>
          <a:p>
            <a:pPr>
              <a:defRPr sz="1100">
                <a:solidFill>
                  <a:srgbClr val="047857"/>
                </a:solidFill>
              </a:defRPr>
            </a:pPr>
            <a:r>
              <a:t>✓  Ultra-High Throughput: Dispatches 100+ SMS/sec; notifies 1,000+ troops in under 15 seconds.</a:t>
            </a:r>
          </a:p>
          <a:p>
            <a:pPr>
              <a:defRPr sz="1100">
                <a:solidFill>
                  <a:srgbClr val="047857"/>
                </a:solidFill>
              </a:defRPr>
            </a:pPr>
            <a:r>
              <a:t>✓  Official Military Branding: Recipient sees '10RCDG' directly in SMS header — eliminates doubt or suspicion.</a:t>
            </a:r>
          </a:p>
          <a:p>
            <a:pPr>
              <a:defRPr sz="1100">
                <a:solidFill>
                  <a:srgbClr val="047857"/>
                </a:solidFill>
              </a:defRPr>
            </a:pPr>
            <a:r>
              <a:t>✓  Carrier SLA Guarantee: 99.99% operational uptime backed by Smart, Globe, and DITO national backbones.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  RESOURCE ALLOCATION</a:t>
            </a:r>
          </a:p>
        </p:txBody>
      </p:sp>
      <p:sp>
        <p:nvSpPr>
          <p:cNvPr id="4" name="TextBox 3"/>
          <p:cNvSpPr txBox="1"/>
          <p:nvPr/>
        </p:nvSpPr>
        <p:spPr>
          <a:xfrm>
            <a:off x="731520" y="749808"/>
            <a:ext cx="8961120" cy="594360"/>
          </a:xfrm>
          <a:prstGeom prst="rect">
            <a:avLst/>
          </a:prstGeom>
          <a:noFill/>
        </p:spPr>
        <p:txBody>
          <a:bodyPr wrap="none" lIns="0" tIns="0" rIns="0" bIns="0">
            <a:spAutoFit/>
          </a:bodyPr>
          <a:lstStyle/>
          <a:p>
            <a:pPr>
              <a:defRPr sz="2400" b="1">
                <a:solidFill>
                  <a:srgbClr val="0F172A"/>
                </a:solidFill>
              </a:defRPr>
            </a:pPr>
            <a:r>
              <a:t>Budget Proposal &amp; Implementation Investment</a:t>
            </a:r>
          </a:p>
        </p:txBody>
      </p:sp>
      <p:pic>
        <p:nvPicPr>
          <p:cNvPr id="5" name="Picture 4" descr="rescom-emblem.jpg"/>
          <p:cNvPicPr>
            <a:picLocks noChangeAspect="1"/>
          </p:cNvPicPr>
          <p:nvPr/>
        </p:nvPicPr>
        <p:blipFill>
          <a:blip r:embed="rId2"/>
          <a:stretch>
            <a:fillRect/>
          </a:stretch>
        </p:blipFill>
        <p:spPr>
          <a:xfrm>
            <a:off x="10972800" y="365760"/>
            <a:ext cx="594360" cy="594360"/>
          </a:xfrm>
          <a:prstGeom prst="rect">
            <a:avLst/>
          </a:prstGeom>
        </p:spPr>
      </p:pic>
      <p:sp>
        <p:nvSpPr>
          <p:cNvPr id="6" name="TextBox 5"/>
          <p:cNvSpPr txBox="1"/>
          <p:nvPr/>
        </p:nvSpPr>
        <p:spPr>
          <a:xfrm>
            <a:off x="9326880" y="384048"/>
            <a:ext cx="1554480" cy="548640"/>
          </a:xfrm>
          <a:prstGeom prst="rect">
            <a:avLst/>
          </a:prstGeom>
          <a:noFill/>
        </p:spPr>
        <p:txBody>
          <a:bodyPr wrap="none" lIns="0" tIns="0" rIns="0" bIns="0">
            <a:spAutoFit/>
          </a:bodyPr>
          <a:lstStyle/>
          <a:p>
            <a:pPr algn="r">
              <a:defRPr sz="1100" b="1">
                <a:solidFill>
                  <a:srgbClr val="065F46"/>
                </a:solidFill>
              </a:defRPr>
            </a:pPr>
            <a:r>
              <a:t>10RCDG RESCOM</a:t>
            </a:r>
          </a:p>
          <a:p>
            <a:pPr algn="r">
              <a:defRPr sz="900">
                <a:solidFill>
                  <a:srgbClr val="64748B"/>
                </a:solidFill>
              </a:defRPr>
            </a:pPr>
            <a:r>
              <a:t>PHILIPPINE ARMY</a:t>
            </a:r>
          </a:p>
        </p:txBody>
      </p:sp>
      <p:sp>
        <p:nvSpPr>
          <p:cNvPr id="7" name="Rectangle 6"/>
          <p:cNvSpPr/>
          <p:nvPr/>
        </p:nvSpPr>
        <p:spPr>
          <a:xfrm>
            <a:off x="731520" y="13898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09360"/>
            <a:ext cx="5029200" cy="320040"/>
          </a:xfrm>
          <a:prstGeom prst="rect">
            <a:avLst/>
          </a:prstGeom>
          <a:noFill/>
        </p:spPr>
        <p:txBody>
          <a:bodyPr wrap="none" lIns="0" tIns="0" rIns="0" bIns="0">
            <a:spAutoFit/>
          </a:bodyPr>
          <a:lstStyle/>
          <a:p>
            <a:pPr>
              <a:defRPr sz="950">
                <a:solidFill>
                  <a:srgbClr val="64748B"/>
                </a:solidFill>
              </a:defRPr>
            </a:pPr>
            <a:r>
              <a:t>10th Regional Community Defense Group  •  Reserve Command, Philippine Army</a:t>
            </a:r>
          </a:p>
        </p:txBody>
      </p:sp>
      <p:sp>
        <p:nvSpPr>
          <p:cNvPr id="9" name="TextBox 8"/>
          <p:cNvSpPr txBox="1"/>
          <p:nvPr/>
        </p:nvSpPr>
        <p:spPr>
          <a:xfrm>
            <a:off x="4572000" y="6309360"/>
            <a:ext cx="4114800" cy="320040"/>
          </a:xfrm>
          <a:prstGeom prst="rect">
            <a:avLst/>
          </a:prstGeom>
          <a:noFill/>
        </p:spPr>
        <p:txBody>
          <a:bodyPr wrap="none" lIns="0" tIns="0" rIns="0" bIns="0">
            <a:spAutoFit/>
          </a:bodyPr>
          <a:lstStyle/>
          <a:p>
            <a:pPr algn="ctr">
              <a:defRPr sz="950" b="1">
                <a:solidFill>
                  <a:srgbClr val="94A3B8"/>
                </a:solidFill>
              </a:defRPr>
            </a:pPr>
            <a:r>
              <a:t>// RESTRICTED — TECHNICAL BRIEFING &amp; COMMAND DEFENSE //</a:t>
            </a:r>
          </a:p>
        </p:txBody>
      </p:sp>
      <p:sp>
        <p:nvSpPr>
          <p:cNvPr id="10" name="Rounded Rectangle 9"/>
          <p:cNvSpPr/>
          <p:nvPr/>
        </p:nvSpPr>
        <p:spPr>
          <a:xfrm>
            <a:off x="10820095" y="6263640"/>
            <a:ext cx="6400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4748B"/>
                </a:solidFill>
              </a:defRPr>
            </a:pPr>
            <a:r>
              <a:t>07 / 09</a:t>
            </a:r>
          </a:p>
        </p:txBody>
      </p:sp>
      <p:graphicFrame>
        <p:nvGraphicFramePr>
          <p:cNvPr id="11" name="Table 10"/>
          <p:cNvGraphicFramePr>
            <a:graphicFrameLocks noGrp="1"/>
          </p:cNvGraphicFramePr>
          <p:nvPr/>
        </p:nvGraphicFramePr>
        <p:xfrm>
          <a:off x="731520" y="1645920"/>
          <a:ext cx="10728655" cy="3291840"/>
        </p:xfrm>
        <a:graphic>
          <a:graphicData uri="http://schemas.openxmlformats.org/drawingml/2006/table">
            <a:tbl>
              <a:tblPr firstRow="1" bandRow="1">
                <a:tableStyleId>{5C22544A-7EE6-4342-B048-85BDC9FD1C3A}</a:tableStyleId>
              </a:tblPr>
              <a:tblGrid>
                <a:gridCol w="2743200"/>
                <a:gridCol w="4114800"/>
                <a:gridCol w="2011680"/>
                <a:gridCol w="1858975"/>
              </a:tblGrid>
              <a:tr h="658368">
                <a:tc>
                  <a:txBody>
                    <a:bodyPr/>
                    <a:lstStyle/>
                    <a:p>
                      <a:pPr>
                        <a:defRPr b="1" sz="1100">
                          <a:solidFill>
                            <a:srgbClr val="FFFFFF"/>
                          </a:solidFill>
                        </a:defRPr>
                      </a:pPr>
                      <a:r>
                        <a:t>Item / Component</a:t>
                      </a:r>
                    </a:p>
                  </a:txBody>
                  <a:tcPr>
                    <a:solidFill>
                      <a:srgbClr val="065F46"/>
                    </a:solidFill>
                  </a:tcPr>
                </a:tc>
                <a:tc>
                  <a:txBody>
                    <a:bodyPr/>
                    <a:lstStyle/>
                    <a:p>
                      <a:pPr>
                        <a:defRPr b="1" sz="1100">
                          <a:solidFill>
                            <a:srgbClr val="FFFFFF"/>
                          </a:solidFill>
                        </a:defRPr>
                      </a:pPr>
                      <a:r>
                        <a:t>Operational Purpose</a:t>
                      </a:r>
                    </a:p>
                  </a:txBody>
                  <a:tcPr>
                    <a:solidFill>
                      <a:srgbClr val="065F46"/>
                    </a:solidFill>
                  </a:tcPr>
                </a:tc>
                <a:tc>
                  <a:txBody>
                    <a:bodyPr/>
                    <a:lstStyle/>
                    <a:p>
                      <a:pPr>
                        <a:defRPr b="1" sz="1100">
                          <a:solidFill>
                            <a:srgbClr val="FFFFFF"/>
                          </a:solidFill>
                        </a:defRPr>
                      </a:pPr>
                      <a:r>
                        <a:t>Provider / Channel</a:t>
                      </a:r>
                    </a:p>
                  </a:txBody>
                  <a:tcPr>
                    <a:solidFill>
                      <a:srgbClr val="065F46"/>
                    </a:solidFill>
                  </a:tcPr>
                </a:tc>
                <a:tc>
                  <a:txBody>
                    <a:bodyPr/>
                    <a:lstStyle/>
                    <a:p>
                      <a:pPr>
                        <a:defRPr b="1" sz="1100">
                          <a:solidFill>
                            <a:srgbClr val="FFFFFF"/>
                          </a:solidFill>
                        </a:defRPr>
                      </a:pPr>
                      <a:r>
                        <a:t>Estimated Allocation</a:t>
                      </a:r>
                    </a:p>
                  </a:txBody>
                  <a:tcPr>
                    <a:solidFill>
                      <a:srgbClr val="065F46"/>
                    </a:solidFill>
                  </a:tcPr>
                </a:tc>
              </a:tr>
              <a:tr h="658368">
                <a:tc>
                  <a:txBody>
                    <a:bodyPr/>
                    <a:lstStyle/>
                    <a:p>
                      <a:pPr>
                        <a:defRPr sz="1050">
                          <a:solidFill>
                            <a:srgbClr val="334155"/>
                          </a:solidFill>
                        </a:defRPr>
                      </a:pPr>
                      <a:r>
                        <a:t>Official SENDER ID Registration</a:t>
                      </a:r>
                    </a:p>
                  </a:txBody>
                  <a:tcPr>
                    <a:solidFill>
                      <a:srgbClr val="FFFFFF"/>
                    </a:solidFill>
                  </a:tcPr>
                </a:tc>
                <a:tc>
                  <a:txBody>
                    <a:bodyPr/>
                    <a:lstStyle/>
                    <a:p>
                      <a:pPr>
                        <a:defRPr sz="1050">
                          <a:solidFill>
                            <a:srgbClr val="334155"/>
                          </a:solidFill>
                        </a:defRPr>
                      </a:pPr>
                      <a:r>
                        <a:t>Registration of '10RCDG' or 'RESCOM-PA' with NTC &amp; Telcos</a:t>
                      </a:r>
                    </a:p>
                  </a:txBody>
                  <a:tcPr>
                    <a:solidFill>
                      <a:srgbClr val="FFFFFF"/>
                    </a:solidFill>
                  </a:tcPr>
                </a:tc>
                <a:tc>
                  <a:txBody>
                    <a:bodyPr/>
                    <a:lstStyle/>
                    <a:p>
                      <a:pPr>
                        <a:defRPr sz="1050">
                          <a:solidFill>
                            <a:srgbClr val="334155"/>
                          </a:solidFill>
                        </a:defRPr>
                      </a:pPr>
                      <a:r>
                        <a:t>Telco A2P (Smart / Globe)</a:t>
                      </a:r>
                    </a:p>
                  </a:txBody>
                  <a:tcPr>
                    <a:solidFill>
                      <a:srgbClr val="FFFFFF"/>
                    </a:solidFill>
                  </a:tcPr>
                </a:tc>
                <a:tc>
                  <a:txBody>
                    <a:bodyPr/>
                    <a:lstStyle/>
                    <a:p>
                      <a:pPr>
                        <a:defRPr sz="1050">
                          <a:solidFill>
                            <a:srgbClr val="334155"/>
                          </a:solidFill>
                        </a:defRPr>
                      </a:pPr>
                      <a:r>
                        <a:t>One-Time Setup Fee</a:t>
                      </a:r>
                    </a:p>
                  </a:txBody>
                  <a:tcPr>
                    <a:solidFill>
                      <a:srgbClr val="FFFFFF"/>
                    </a:solidFill>
                  </a:tcPr>
                </a:tc>
              </a:tr>
              <a:tr h="658368">
                <a:tc>
                  <a:txBody>
                    <a:bodyPr/>
                    <a:lstStyle/>
                    <a:p>
                      <a:pPr>
                        <a:defRPr sz="1050">
                          <a:solidFill>
                            <a:srgbClr val="334155"/>
                          </a:solidFill>
                        </a:defRPr>
                      </a:pPr>
                      <a:r>
                        <a:t>SMS Bulk Credit Allocation</a:t>
                      </a:r>
                    </a:p>
                  </a:txBody>
                  <a:tcPr>
                    <a:solidFill>
                      <a:srgbClr val="F8FAFC"/>
                    </a:solidFill>
                  </a:tcPr>
                </a:tc>
                <a:tc>
                  <a:txBody>
                    <a:bodyPr/>
                    <a:lstStyle/>
                    <a:p>
                      <a:pPr>
                        <a:defRPr sz="1050">
                          <a:solidFill>
                            <a:srgbClr val="334155"/>
                          </a:solidFill>
                        </a:defRPr>
                      </a:pPr>
                      <a:r>
                        <a:t>Credit pool for periodic drills, disaster warnings &amp; red alert recall</a:t>
                      </a:r>
                    </a:p>
                  </a:txBody>
                  <a:tcPr>
                    <a:solidFill>
                      <a:srgbClr val="F8FAFC"/>
                    </a:solidFill>
                  </a:tcPr>
                </a:tc>
                <a:tc>
                  <a:txBody>
                    <a:bodyPr/>
                    <a:lstStyle/>
                    <a:p>
                      <a:pPr>
                        <a:defRPr sz="1050">
                          <a:solidFill>
                            <a:srgbClr val="334155"/>
                          </a:solidFill>
                        </a:defRPr>
                      </a:pPr>
                      <a:r>
                        <a:t>Telco Direct / Enterprise Tier</a:t>
                      </a:r>
                    </a:p>
                  </a:txBody>
                  <a:tcPr>
                    <a:solidFill>
                      <a:srgbClr val="F8FAFC"/>
                    </a:solidFill>
                  </a:tcPr>
                </a:tc>
                <a:tc>
                  <a:txBody>
                    <a:bodyPr/>
                    <a:lstStyle/>
                    <a:p>
                      <a:pPr>
                        <a:defRPr sz="1050">
                          <a:solidFill>
                            <a:srgbClr val="334155"/>
                          </a:solidFill>
                        </a:defRPr>
                      </a:pPr>
                      <a:r>
                        <a:t>Quarterly Operating Fund</a:t>
                      </a:r>
                    </a:p>
                  </a:txBody>
                  <a:tcPr>
                    <a:solidFill>
                      <a:srgbClr val="F8FAFC"/>
                    </a:solidFill>
                  </a:tcPr>
                </a:tc>
              </a:tr>
              <a:tr h="658368">
                <a:tc>
                  <a:txBody>
                    <a:bodyPr/>
                    <a:lstStyle/>
                    <a:p>
                      <a:pPr>
                        <a:defRPr sz="1050">
                          <a:solidFill>
                            <a:srgbClr val="334155"/>
                          </a:solidFill>
                        </a:defRPr>
                      </a:pPr>
                      <a:r>
                        <a:t>Cloud Infrastructure &amp; Database</a:t>
                      </a:r>
                    </a:p>
                  </a:txBody>
                  <a:tcPr>
                    <a:solidFill>
                      <a:srgbClr val="FFFFFF"/>
                    </a:solidFill>
                  </a:tcPr>
                </a:tc>
                <a:tc>
                  <a:txBody>
                    <a:bodyPr/>
                    <a:lstStyle/>
                    <a:p>
                      <a:pPr>
                        <a:defRPr sz="1050">
                          <a:solidFill>
                            <a:srgbClr val="334155"/>
                          </a:solidFill>
                        </a:defRPr>
                      </a:pPr>
                      <a:r>
                        <a:t>24/7 High-availability server for real-time troop roster &amp; tracking</a:t>
                      </a:r>
                    </a:p>
                  </a:txBody>
                  <a:tcPr>
                    <a:solidFill>
                      <a:srgbClr val="FFFFFF"/>
                    </a:solidFill>
                  </a:tcPr>
                </a:tc>
                <a:tc>
                  <a:txBody>
                    <a:bodyPr/>
                    <a:lstStyle/>
                    <a:p>
                      <a:pPr>
                        <a:defRPr sz="1050">
                          <a:solidFill>
                            <a:srgbClr val="334155"/>
                          </a:solidFill>
                        </a:defRPr>
                      </a:pPr>
                      <a:r>
                        <a:t>Convex / Vercel Enterprise</a:t>
                      </a:r>
                    </a:p>
                  </a:txBody>
                  <a:tcPr>
                    <a:solidFill>
                      <a:srgbClr val="FFFFFF"/>
                    </a:solidFill>
                  </a:tcPr>
                </a:tc>
                <a:tc>
                  <a:txBody>
                    <a:bodyPr/>
                    <a:lstStyle/>
                    <a:p>
                      <a:pPr>
                        <a:defRPr sz="1050">
                          <a:solidFill>
                            <a:srgbClr val="334155"/>
                          </a:solidFill>
                        </a:defRPr>
                      </a:pPr>
                      <a:r>
                        <a:t>Annual Server Maintenance</a:t>
                      </a:r>
                    </a:p>
                  </a:txBody>
                  <a:tcPr>
                    <a:solidFill>
                      <a:srgbClr val="FFFFFF"/>
                    </a:solidFill>
                  </a:tcPr>
                </a:tc>
              </a:tr>
              <a:tr h="658368">
                <a:tc>
                  <a:txBody>
                    <a:bodyPr/>
                    <a:lstStyle/>
                    <a:p>
                      <a:pPr>
                        <a:defRPr sz="1050">
                          <a:solidFill>
                            <a:srgbClr val="334155"/>
                          </a:solidFill>
                        </a:defRPr>
                      </a:pPr>
                      <a:r>
                        <a:t>Maintenance &amp; Security Updates</a:t>
                      </a:r>
                    </a:p>
                  </a:txBody>
                  <a:tcPr>
                    <a:solidFill>
                      <a:srgbClr val="F8FAFC"/>
                    </a:solidFill>
                  </a:tcPr>
                </a:tc>
                <a:tc>
                  <a:txBody>
                    <a:bodyPr/>
                    <a:lstStyle/>
                    <a:p>
                      <a:pPr>
                        <a:defRPr sz="1050">
                          <a:solidFill>
                            <a:srgbClr val="334155"/>
                          </a:solidFill>
                        </a:defRPr>
                      </a:pPr>
                      <a:r>
                        <a:t>Android OS patch compatibility (Android 14/15/16) and cipher security</a:t>
                      </a:r>
                    </a:p>
                  </a:txBody>
                  <a:tcPr>
                    <a:solidFill>
                      <a:srgbClr val="F8FAFC"/>
                    </a:solidFill>
                  </a:tcPr>
                </a:tc>
                <a:tc>
                  <a:txBody>
                    <a:bodyPr/>
                    <a:lstStyle/>
                    <a:p>
                      <a:pPr>
                        <a:defRPr sz="1050">
                          <a:solidFill>
                            <a:srgbClr val="334155"/>
                          </a:solidFill>
                        </a:defRPr>
                      </a:pPr>
                      <a:r>
                        <a:t>USTP Dev / 10RCDG Cyber Team</a:t>
                      </a:r>
                    </a:p>
                  </a:txBody>
                  <a:tcPr>
                    <a:solidFill>
                      <a:srgbClr val="F8FAFC"/>
                    </a:solidFill>
                  </a:tcPr>
                </a:tc>
                <a:tc>
                  <a:txBody>
                    <a:bodyPr/>
                    <a:lstStyle/>
                    <a:p>
                      <a:pPr>
                        <a:defRPr sz="1050">
                          <a:solidFill>
                            <a:srgbClr val="334155"/>
                          </a:solidFill>
                        </a:defRPr>
                      </a:pPr>
                      <a:r>
                        <a:t>Institutional Partnership</a:t>
                      </a:r>
                    </a:p>
                  </a:txBody>
                  <a:tcPr>
                    <a:solidFill>
                      <a:srgbClr val="F8FAFC"/>
                    </a:solidFill>
                  </a:tcPr>
                </a:tc>
              </a:tr>
            </a:tbl>
          </a:graphicData>
        </a:graphic>
      </p:graphicFrame>
      <p:sp>
        <p:nvSpPr>
          <p:cNvPr id="12" name="Rounded Rectangle 11"/>
          <p:cNvSpPr/>
          <p:nvPr/>
        </p:nvSpPr>
        <p:spPr>
          <a:xfrm>
            <a:off x="731520" y="5166360"/>
            <a:ext cx="10728655" cy="9601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47857"/>
                </a:solidFill>
              </a:defRPr>
            </a:pPr>
            <a:r>
              <a:t>STRATEGIC VALUE PROPOSITION:</a:t>
            </a:r>
          </a:p>
          <a:p>
            <a:pPr>
              <a:defRPr sz="1100">
                <a:solidFill>
                  <a:srgbClr val="334155"/>
                </a:solidFill>
              </a:defRPr>
            </a:pPr>
            <a:r>
              <a:t>For a fraction of the cost of commercial foreign emergency software, 10RCDG secures a tailored, sovereign defense asset that delivers instantaneous regional command control over thousands of reservists.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  OPERATIONAL PHASES</a:t>
            </a:r>
          </a:p>
        </p:txBody>
      </p:sp>
      <p:sp>
        <p:nvSpPr>
          <p:cNvPr id="4" name="TextBox 3"/>
          <p:cNvSpPr txBox="1"/>
          <p:nvPr/>
        </p:nvSpPr>
        <p:spPr>
          <a:xfrm>
            <a:off x="731520" y="749808"/>
            <a:ext cx="8961120" cy="594360"/>
          </a:xfrm>
          <a:prstGeom prst="rect">
            <a:avLst/>
          </a:prstGeom>
          <a:noFill/>
        </p:spPr>
        <p:txBody>
          <a:bodyPr wrap="none" lIns="0" tIns="0" rIns="0" bIns="0">
            <a:spAutoFit/>
          </a:bodyPr>
          <a:lstStyle/>
          <a:p>
            <a:pPr>
              <a:defRPr sz="2400" b="1">
                <a:solidFill>
                  <a:srgbClr val="0F172A"/>
                </a:solidFill>
              </a:defRPr>
            </a:pPr>
            <a:r>
              <a:t>Deployment Roadmap &amp; Implementation Schedule</a:t>
            </a:r>
          </a:p>
        </p:txBody>
      </p:sp>
      <p:pic>
        <p:nvPicPr>
          <p:cNvPr id="5" name="Picture 4" descr="rescom-emblem.jpg"/>
          <p:cNvPicPr>
            <a:picLocks noChangeAspect="1"/>
          </p:cNvPicPr>
          <p:nvPr/>
        </p:nvPicPr>
        <p:blipFill>
          <a:blip r:embed="rId2"/>
          <a:stretch>
            <a:fillRect/>
          </a:stretch>
        </p:blipFill>
        <p:spPr>
          <a:xfrm>
            <a:off x="10972800" y="365760"/>
            <a:ext cx="594360" cy="594360"/>
          </a:xfrm>
          <a:prstGeom prst="rect">
            <a:avLst/>
          </a:prstGeom>
        </p:spPr>
      </p:pic>
      <p:sp>
        <p:nvSpPr>
          <p:cNvPr id="6" name="TextBox 5"/>
          <p:cNvSpPr txBox="1"/>
          <p:nvPr/>
        </p:nvSpPr>
        <p:spPr>
          <a:xfrm>
            <a:off x="9326880" y="384048"/>
            <a:ext cx="1554480" cy="548640"/>
          </a:xfrm>
          <a:prstGeom prst="rect">
            <a:avLst/>
          </a:prstGeom>
          <a:noFill/>
        </p:spPr>
        <p:txBody>
          <a:bodyPr wrap="none" lIns="0" tIns="0" rIns="0" bIns="0">
            <a:spAutoFit/>
          </a:bodyPr>
          <a:lstStyle/>
          <a:p>
            <a:pPr algn="r">
              <a:defRPr sz="1100" b="1">
                <a:solidFill>
                  <a:srgbClr val="065F46"/>
                </a:solidFill>
              </a:defRPr>
            </a:pPr>
            <a:r>
              <a:t>10RCDG RESCOM</a:t>
            </a:r>
          </a:p>
          <a:p>
            <a:pPr algn="r">
              <a:defRPr sz="900">
                <a:solidFill>
                  <a:srgbClr val="64748B"/>
                </a:solidFill>
              </a:defRPr>
            </a:pPr>
            <a:r>
              <a:t>PHILIPPINE ARMY</a:t>
            </a:r>
          </a:p>
        </p:txBody>
      </p:sp>
      <p:sp>
        <p:nvSpPr>
          <p:cNvPr id="7" name="Rectangle 6"/>
          <p:cNvSpPr/>
          <p:nvPr/>
        </p:nvSpPr>
        <p:spPr>
          <a:xfrm>
            <a:off x="731520" y="138988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09360"/>
            <a:ext cx="5029200" cy="320040"/>
          </a:xfrm>
          <a:prstGeom prst="rect">
            <a:avLst/>
          </a:prstGeom>
          <a:noFill/>
        </p:spPr>
        <p:txBody>
          <a:bodyPr wrap="none" lIns="0" tIns="0" rIns="0" bIns="0">
            <a:spAutoFit/>
          </a:bodyPr>
          <a:lstStyle/>
          <a:p>
            <a:pPr>
              <a:defRPr sz="950">
                <a:solidFill>
                  <a:srgbClr val="64748B"/>
                </a:solidFill>
              </a:defRPr>
            </a:pPr>
            <a:r>
              <a:t>10th Regional Community Defense Group  •  Reserve Command, Philippine Army</a:t>
            </a:r>
          </a:p>
        </p:txBody>
      </p:sp>
      <p:sp>
        <p:nvSpPr>
          <p:cNvPr id="9" name="TextBox 8"/>
          <p:cNvSpPr txBox="1"/>
          <p:nvPr/>
        </p:nvSpPr>
        <p:spPr>
          <a:xfrm>
            <a:off x="4572000" y="6309360"/>
            <a:ext cx="4114800" cy="320040"/>
          </a:xfrm>
          <a:prstGeom prst="rect">
            <a:avLst/>
          </a:prstGeom>
          <a:noFill/>
        </p:spPr>
        <p:txBody>
          <a:bodyPr wrap="none" lIns="0" tIns="0" rIns="0" bIns="0">
            <a:spAutoFit/>
          </a:bodyPr>
          <a:lstStyle/>
          <a:p>
            <a:pPr algn="ctr">
              <a:defRPr sz="950" b="1">
                <a:solidFill>
                  <a:srgbClr val="94A3B8"/>
                </a:solidFill>
              </a:defRPr>
            </a:pPr>
            <a:r>
              <a:t>// RESTRICTED — TECHNICAL BRIEFING &amp; COMMAND DEFENSE //</a:t>
            </a:r>
          </a:p>
        </p:txBody>
      </p:sp>
      <p:sp>
        <p:nvSpPr>
          <p:cNvPr id="10" name="Rounded Rectangle 9"/>
          <p:cNvSpPr/>
          <p:nvPr/>
        </p:nvSpPr>
        <p:spPr>
          <a:xfrm>
            <a:off x="10820095" y="6263640"/>
            <a:ext cx="6400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4748B"/>
                </a:solidFill>
              </a:defRPr>
            </a:pPr>
            <a:r>
              <a:t>08 / 09</a:t>
            </a:r>
          </a:p>
        </p:txBody>
      </p:sp>
      <p:sp>
        <p:nvSpPr>
          <p:cNvPr id="11" name="Rounded Rectangle 10"/>
          <p:cNvSpPr/>
          <p:nvPr/>
        </p:nvSpPr>
        <p:spPr>
          <a:xfrm>
            <a:off x="731520" y="164592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4400" y="1828800"/>
            <a:ext cx="2962656" cy="59436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65F46"/>
                </a:solidFill>
              </a:defRPr>
            </a:pPr>
            <a:r>
              <a:t>OCTOBER 2026 • PHASE 1 (COMPLETED)</a:t>
            </a:r>
          </a:p>
        </p:txBody>
      </p:sp>
      <p:sp>
        <p:nvSpPr>
          <p:cNvPr id="13" name="TextBox 12"/>
          <p:cNvSpPr txBox="1"/>
          <p:nvPr/>
        </p:nvSpPr>
        <p:spPr>
          <a:xfrm>
            <a:off x="960120" y="2560320"/>
            <a:ext cx="2871216" cy="3291840"/>
          </a:xfrm>
          <a:prstGeom prst="rect">
            <a:avLst/>
          </a:prstGeom>
          <a:noFill/>
        </p:spPr>
        <p:txBody>
          <a:bodyPr wrap="square">
            <a:spAutoFit/>
          </a:bodyPr>
          <a:lstStyle/>
          <a:p>
            <a:pPr>
              <a:defRPr sz="1300" b="1">
                <a:solidFill>
                  <a:srgbClr val="0F172A"/>
                </a:solidFill>
              </a:defRPr>
            </a:pPr>
            <a:r>
              <a:t>POC &amp; Field Testing</a:t>
            </a:r>
            <a:br/>
          </a:p>
          <a:p>
            <a:pPr>
              <a:defRPr sz="1100">
                <a:solidFill>
                  <a:srgbClr val="334155"/>
                </a:solidFill>
              </a:defRPr>
            </a:pPr>
            <a:r>
              <a:t>• Full-stack Next.js Command Portal built</a:t>
            </a:r>
          </a:p>
          <a:p>
            <a:pPr>
              <a:defRPr sz="1100">
                <a:solidFill>
                  <a:srgbClr val="334155"/>
                </a:solidFill>
              </a:defRPr>
            </a:pPr>
            <a:r>
              <a:t>• Android lockscreen siren engine verified</a:t>
            </a:r>
          </a:p>
          <a:p>
            <a:pPr>
              <a:defRPr sz="1100">
                <a:solidFill>
                  <a:srgbClr val="334155"/>
                </a:solidFill>
              </a:defRPr>
            </a:pPr>
            <a:r>
              <a:t>• Public download portal (/download) live</a:t>
            </a:r>
          </a:p>
          <a:p>
            <a:pPr>
              <a:defRPr sz="1100">
                <a:solidFill>
                  <a:srgbClr val="334155"/>
                </a:solidFill>
              </a:defRPr>
            </a:pPr>
            <a:r>
              <a:t>• Offline SMS receiver validated on devices</a:t>
            </a:r>
          </a:p>
        </p:txBody>
      </p:sp>
      <p:sp>
        <p:nvSpPr>
          <p:cNvPr id="14" name="Rounded Rectangle 13"/>
          <p:cNvSpPr/>
          <p:nvPr/>
        </p:nvSpPr>
        <p:spPr>
          <a:xfrm>
            <a:off x="4425696" y="164592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608576" y="1828800"/>
            <a:ext cx="2962656" cy="594360"/>
          </a:xfrm>
          <a:prstGeom prst="roundRect">
            <a:avLst/>
          </a:prstGeom>
          <a:solidFill>
            <a:srgbClr val="EFF6FF"/>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D4ED8"/>
                </a:solidFill>
              </a:defRPr>
            </a:pPr>
            <a:r>
              <a:t>NOVEMBER 2026 • PHASE 2 (CURRENT)</a:t>
            </a:r>
          </a:p>
        </p:txBody>
      </p:sp>
      <p:sp>
        <p:nvSpPr>
          <p:cNvPr id="16" name="TextBox 15"/>
          <p:cNvSpPr txBox="1"/>
          <p:nvPr/>
        </p:nvSpPr>
        <p:spPr>
          <a:xfrm>
            <a:off x="4654296" y="2560320"/>
            <a:ext cx="2871216" cy="3291840"/>
          </a:xfrm>
          <a:prstGeom prst="rect">
            <a:avLst/>
          </a:prstGeom>
          <a:noFill/>
        </p:spPr>
        <p:txBody>
          <a:bodyPr wrap="square">
            <a:spAutoFit/>
          </a:bodyPr>
          <a:lstStyle/>
          <a:p>
            <a:pPr>
              <a:defRPr sz="1300" b="1">
                <a:solidFill>
                  <a:srgbClr val="0F172A"/>
                </a:solidFill>
              </a:defRPr>
            </a:pPr>
            <a:r>
              <a:t>SENDER ID &amp; Carrier Link</a:t>
            </a:r>
            <a:br/>
          </a:p>
          <a:p>
            <a:pPr>
              <a:defRPr sz="1100">
                <a:solidFill>
                  <a:srgbClr val="334155"/>
                </a:solidFill>
              </a:defRPr>
            </a:pPr>
            <a:r>
              <a:t>• File NTC accreditation documents</a:t>
            </a:r>
          </a:p>
          <a:p>
            <a:pPr>
              <a:defRPr sz="1100">
                <a:solidFill>
                  <a:srgbClr val="334155"/>
                </a:solidFill>
              </a:defRPr>
            </a:pPr>
            <a:r>
              <a:t>• Onboard Smart &amp; Globe A2P accounts</a:t>
            </a:r>
          </a:p>
          <a:p>
            <a:pPr>
              <a:defRPr sz="1100">
                <a:solidFill>
                  <a:srgbClr val="334155"/>
                </a:solidFill>
              </a:defRPr>
            </a:pPr>
            <a:r>
              <a:t>• Register official '10RCDG' Sender ID</a:t>
            </a:r>
          </a:p>
          <a:p>
            <a:pPr>
              <a:defRPr sz="1100">
                <a:solidFill>
                  <a:srgbClr val="334155"/>
                </a:solidFill>
              </a:defRPr>
            </a:pPr>
            <a:r>
              <a:t>• Configure high-speed SMS API gateway</a:t>
            </a:r>
          </a:p>
        </p:txBody>
      </p:sp>
      <p:sp>
        <p:nvSpPr>
          <p:cNvPr id="17" name="Rounded Rectangle 16"/>
          <p:cNvSpPr/>
          <p:nvPr/>
        </p:nvSpPr>
        <p:spPr>
          <a:xfrm>
            <a:off x="8119872" y="164592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302752" y="1828800"/>
            <a:ext cx="2962656" cy="59436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7706"/>
                </a:solidFill>
              </a:defRPr>
            </a:pPr>
            <a:r>
              <a:t>DECEMBER 2026 • PHASE 3 (DEPLOYMENT)</a:t>
            </a:r>
          </a:p>
        </p:txBody>
      </p:sp>
      <p:sp>
        <p:nvSpPr>
          <p:cNvPr id="19" name="TextBox 18"/>
          <p:cNvSpPr txBox="1"/>
          <p:nvPr/>
        </p:nvSpPr>
        <p:spPr>
          <a:xfrm>
            <a:off x="8348472" y="2560320"/>
            <a:ext cx="2871216" cy="3291840"/>
          </a:xfrm>
          <a:prstGeom prst="rect">
            <a:avLst/>
          </a:prstGeom>
          <a:noFill/>
        </p:spPr>
        <p:txBody>
          <a:bodyPr wrap="square">
            <a:spAutoFit/>
          </a:bodyPr>
          <a:lstStyle/>
          <a:p>
            <a:pPr>
              <a:defRPr sz="1300" b="1">
                <a:solidFill>
                  <a:srgbClr val="0F172A"/>
                </a:solidFill>
              </a:defRPr>
            </a:pPr>
            <a:r>
              <a:t>Regional CDC Rollout</a:t>
            </a:r>
            <a:br/>
          </a:p>
          <a:p>
            <a:pPr>
              <a:defRPr sz="1100">
                <a:solidFill>
                  <a:srgbClr val="334155"/>
                </a:solidFill>
              </a:defRPr>
            </a:pPr>
            <a:r>
              <a:t>• Sideload distribution across 1001st-1005th CDCs</a:t>
            </a:r>
          </a:p>
          <a:p>
            <a:pPr>
              <a:defRPr sz="1100">
                <a:solidFill>
                  <a:srgbClr val="334155"/>
                </a:solidFill>
              </a:defRPr>
            </a:pPr>
            <a:r>
              <a:t>• Conduct scheduled Command Comms Check</a:t>
            </a:r>
          </a:p>
          <a:p>
            <a:pPr>
              <a:defRPr sz="1100">
                <a:solidFill>
                  <a:srgbClr val="334155"/>
                </a:solidFill>
              </a:defRPr>
            </a:pPr>
            <a:r>
              <a:t>• Integrate battalion roster databases</a:t>
            </a:r>
          </a:p>
          <a:p>
            <a:pPr>
              <a:defRPr sz="1100">
                <a:solidFill>
                  <a:srgbClr val="334155"/>
                </a:solidFill>
              </a:defRPr>
            </a:pPr>
            <a:r>
              <a:t>• Full operational readiness handover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731520"/>
            <a:ext cx="9448495" cy="5394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scom-emblem.jpg"/>
          <p:cNvPicPr>
            <a:picLocks noChangeAspect="1"/>
          </p:cNvPicPr>
          <p:nvPr/>
        </p:nvPicPr>
        <p:blipFill>
          <a:blip r:embed="rId2"/>
          <a:stretch>
            <a:fillRect/>
          </a:stretch>
        </p:blipFill>
        <p:spPr>
          <a:xfrm>
            <a:off x="5120640" y="1097280"/>
            <a:ext cx="914400" cy="914400"/>
          </a:xfrm>
          <a:prstGeom prst="rect">
            <a:avLst/>
          </a:prstGeom>
        </p:spPr>
      </p:pic>
      <p:pic>
        <p:nvPicPr>
          <p:cNvPr id="5" name="Picture 4" descr="rescom-pa-seal.png"/>
          <p:cNvPicPr>
            <a:picLocks noChangeAspect="1"/>
          </p:cNvPicPr>
          <p:nvPr/>
        </p:nvPicPr>
        <p:blipFill>
          <a:blip r:embed="rId3"/>
          <a:stretch>
            <a:fillRect/>
          </a:stretch>
        </p:blipFill>
        <p:spPr>
          <a:xfrm>
            <a:off x="6217920" y="1097280"/>
            <a:ext cx="914400" cy="914400"/>
          </a:xfrm>
          <a:prstGeom prst="rect">
            <a:avLst/>
          </a:prstGeom>
        </p:spPr>
      </p:pic>
      <p:sp>
        <p:nvSpPr>
          <p:cNvPr id="6" name="Rounded Rectangle 5"/>
          <p:cNvSpPr/>
          <p:nvPr/>
        </p:nvSpPr>
        <p:spPr>
          <a:xfrm>
            <a:off x="3474720" y="2148840"/>
            <a:ext cx="5212080" cy="3474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47857"/>
                </a:solidFill>
              </a:defRPr>
            </a:pPr>
            <a:r>
              <a:t>EMPOWERING 10RCDG WITH MISSION-CRITICAL READINESS</a:t>
            </a:r>
          </a:p>
        </p:txBody>
      </p:sp>
      <p:sp>
        <p:nvSpPr>
          <p:cNvPr id="7" name="TextBox 6"/>
          <p:cNvSpPr txBox="1"/>
          <p:nvPr/>
        </p:nvSpPr>
        <p:spPr>
          <a:xfrm>
            <a:off x="1828800" y="2651760"/>
            <a:ext cx="8534095" cy="2103120"/>
          </a:xfrm>
          <a:prstGeom prst="rect">
            <a:avLst/>
          </a:prstGeom>
          <a:noFill/>
        </p:spPr>
        <p:txBody>
          <a:bodyPr wrap="square">
            <a:spAutoFit/>
          </a:bodyPr>
          <a:lstStyle/>
          <a:p>
            <a:pPr algn="ctr">
              <a:defRPr sz="3000" b="1">
                <a:solidFill>
                  <a:srgbClr val="0F172A"/>
                </a:solidFill>
              </a:defRPr>
            </a:pPr>
            <a:r>
              <a:t>“When Every Second Counts, Silence is Not an Option.”</a:t>
            </a:r>
          </a:p>
          <a:p>
            <a:br/>
            <a:pPr algn="ctr">
              <a:defRPr sz="1500" b="1">
                <a:solidFill>
                  <a:srgbClr val="047857"/>
                </a:solidFill>
              </a:defRPr>
            </a:pPr>
            <a:r>
              <a:t>Thank you, Sir / Ma'am. The floor is now open for questions, technical inquiry, and live inspection.</a:t>
            </a:r>
          </a:p>
        </p:txBody>
      </p:sp>
      <p:sp>
        <p:nvSpPr>
          <p:cNvPr id="8" name="Rounded Rectangle 7"/>
          <p:cNvSpPr/>
          <p:nvPr/>
        </p:nvSpPr>
        <p:spPr>
          <a:xfrm>
            <a:off x="2926080" y="4892040"/>
            <a:ext cx="6309360" cy="7315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F172A"/>
                </a:solidFill>
              </a:defRPr>
            </a:pPr>
            <a:r>
              <a:t>Javier Siliacay (aka vier from USTP Autotronics)  •  Lead Developer</a:t>
            </a:r>
          </a:p>
          <a:p>
            <a:pPr algn="ctr">
              <a:defRPr sz="1050">
                <a:solidFill>
                  <a:srgbClr val="64748B"/>
                </a:solidFill>
              </a:defRPr>
            </a:pPr>
            <a:r>
              <a:t>10RCDG RESCOM-ALERT Project  •  October 2026</a:t>
            </a:r>
          </a:p>
        </p:txBody>
      </p:sp>
      <p:sp>
        <p:nvSpPr>
          <p:cNvPr id="9" name="TextBox 8"/>
          <p:cNvSpPr txBox="1"/>
          <p:nvPr/>
        </p:nvSpPr>
        <p:spPr>
          <a:xfrm>
            <a:off x="731520" y="6309360"/>
            <a:ext cx="5029200" cy="320040"/>
          </a:xfrm>
          <a:prstGeom prst="rect">
            <a:avLst/>
          </a:prstGeom>
          <a:noFill/>
        </p:spPr>
        <p:txBody>
          <a:bodyPr wrap="none" lIns="0" tIns="0" rIns="0" bIns="0">
            <a:spAutoFit/>
          </a:bodyPr>
          <a:lstStyle/>
          <a:p>
            <a:pPr>
              <a:defRPr sz="950">
                <a:solidFill>
                  <a:srgbClr val="64748B"/>
                </a:solidFill>
              </a:defRPr>
            </a:pPr>
            <a:r>
              <a:t>10th Regional Community Defense Group  •  Reserve Command, Philippine Army</a:t>
            </a:r>
          </a:p>
        </p:txBody>
      </p:sp>
      <p:sp>
        <p:nvSpPr>
          <p:cNvPr id="10" name="TextBox 9"/>
          <p:cNvSpPr txBox="1"/>
          <p:nvPr/>
        </p:nvSpPr>
        <p:spPr>
          <a:xfrm>
            <a:off x="4572000" y="6309360"/>
            <a:ext cx="4114800" cy="320040"/>
          </a:xfrm>
          <a:prstGeom prst="rect">
            <a:avLst/>
          </a:prstGeom>
          <a:noFill/>
        </p:spPr>
        <p:txBody>
          <a:bodyPr wrap="none" lIns="0" tIns="0" rIns="0" bIns="0">
            <a:spAutoFit/>
          </a:bodyPr>
          <a:lstStyle/>
          <a:p>
            <a:pPr algn="ctr">
              <a:defRPr sz="950" b="1">
                <a:solidFill>
                  <a:srgbClr val="94A3B8"/>
                </a:solidFill>
              </a:defRPr>
            </a:pPr>
            <a:r>
              <a:t>// RESTRICTED — TECHNICAL BRIEFING &amp; COMMAND DEFENSE //</a:t>
            </a:r>
          </a:p>
        </p:txBody>
      </p:sp>
      <p:sp>
        <p:nvSpPr>
          <p:cNvPr id="11" name="Rounded Rectangle 10"/>
          <p:cNvSpPr/>
          <p:nvPr/>
        </p:nvSpPr>
        <p:spPr>
          <a:xfrm>
            <a:off x="10820095" y="6263640"/>
            <a:ext cx="6400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4748B"/>
                </a:solidFill>
              </a:defRPr>
            </a:pPr>
            <a:r>
              <a:t>09 / 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